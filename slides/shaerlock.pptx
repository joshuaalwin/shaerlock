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Hi everyone — I'm Joshua. This is shaerlock, an iptables policy auditor I built for ENPM693. The whole project is about a single idea: keep detection deterministic, and let the LLM only explain. Ten minutes, eleven slides — let's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'AI security' tools today let an LLM both find and explain policy issues in the same call. That makes hallucinations indistinguishable from findings. Our approach refuses that conflation: a pairwise algorithm from Al-Shaer and Hamed 2004 finds the bugs; the LLM is only allowed to narrate them under a strict JSON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ENPM693 framing. We're a defensive course, so the goal is to use AI as an auditor — measurable, reproducible, citation-bound. Three pillars carry the rest of the talk: defensive use, reproducibility, citation.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Five-stage pipeline. Parser → Analyzer is purely deterministic. Enricher is the only stage where the LLM lives, with two pluggable backends — Ollama for offline, Anthropic for the better narration. Evasion mapper hardcodes the MITRE linkage to keep citations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Al-Shaer &amp; Hamed 2004. Two predicates over match-sets and actions cleanly separate four classes. SHADOWING is the dangerous one — a security rule that never fires. CORRELATION is the subtle one — order-dependent ambiguity that often hides a rewrite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anomaly maps to a MITRE technique and a citation. Three of four are T1599, Network Boundary Bridging — fragmentation, widening, and rule rewrite all live there. REDUNDANCY is T1562.004, Impair Defenses. Crucially, this table is hardcoded — the LLM is not allowed to invent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LLM gets a strict JSON contract. Classification is fixed before the model sees the finding. Rule indices are restricted to those already in the input. The eval harness counts any index outside that set as a hallucination. Across thirteen enrichments, the count was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results. Hundred percent recall against five planted defects. Zero hallucinated rule indices across thirteen LLM enrichments. Zero findings on the clean control ruleset. The severity bar shows the LLM's distribution — and a quick spot-check shows it tracks intuitive severity: a vanished security boundary scores HIGH, a duplicate rule scores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 the actual shaerlock audit output, thirteen findings across all four anomaly classes, zero false negatives. All findings are INPUT chain — the flawed fixture only has INPUT rules. On the right — the fragmentation demo. Two BEEF fragments reassemble into one UDP datagram on loopback; the third fragment with id BEF0 is the late-arriving overlap that, on a stack which prefers later fragments, rewrites the transport header after the filter has already let the flow through. That's the SHADOWING evasion in code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conclusions — separation of detection and explanation; hallucination as a measurable quantity; and a citation-bound evasion table. This slide stays on screen during Q&amp;A. Code and reproduction instructions are at github.com/joshuaalwin/shaerlock.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references. These are the academic foundations of the project, from Ptacek-Newsham 1998 through Lin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14400" y="2194560"/>
            <a:ext cx="1463040" cy="1463040"/>
          </a:xfrm>
          <a:prstGeom prst="ellipse">
            <a:avLst/>
          </a:prstGeom>
          <a:solidFill>
            <a:srgbClr val="1E2761"/>
          </a:solidFill>
          <a:ln w="25400">
            <a:solidFill>
              <a:srgbClr val="CADCFC"/>
            </a:solidFill>
            <a:prstDash val="solid"/>
          </a:ln>
        </p:spPr>
      </p:sp>
      <p:sp>
        <p:nvSpPr>
          <p:cNvPr id="3" name="Text 1"/>
          <p:cNvSpPr/>
          <p:nvPr/>
        </p:nvSpPr>
        <p:spPr>
          <a:xfrm>
            <a:off x="914400" y="2194560"/>
            <a:ext cx="1463040" cy="1463040"/>
          </a:xfrm>
          <a:prstGeom prst="rect">
            <a:avLst/>
          </a:prstGeom>
          <a:noFill/>
          <a:ln/>
        </p:spPr>
        <p:txBody>
          <a:bodyPr wrap="square" lIns="0" tIns="0" rIns="0" bIns="0" rtlCol="0" anchor="ctr"/>
          <a:lstStyle/>
          <a:p>
            <a:pPr algn="ctr" indent="0" marL="0">
              <a:buNone/>
            </a:pPr>
            <a:r>
              <a:rPr lang="en-US" sz="6000" dirty="0">
                <a:solidFill>
                  <a:srgbClr val="CADCFC"/>
                </a:solidFill>
              </a:rPr>
              <a:t>🔍</a:t>
            </a:r>
            <a:endParaRPr lang="en-US" sz="6000" dirty="0"/>
          </a:p>
        </p:txBody>
      </p:sp>
      <p:sp>
        <p:nvSpPr>
          <p:cNvPr id="4" name="Text 2"/>
          <p:cNvSpPr/>
          <p:nvPr/>
        </p:nvSpPr>
        <p:spPr>
          <a:xfrm>
            <a:off x="2926080" y="2331720"/>
            <a:ext cx="8229600" cy="1097280"/>
          </a:xfrm>
          <a:prstGeom prst="rect">
            <a:avLst/>
          </a:prstGeom>
          <a:noFill/>
          <a:ln/>
        </p:spPr>
        <p:txBody>
          <a:bodyPr wrap="square" rtlCol="0" anchor="ctr"/>
          <a:lstStyle/>
          <a:p>
            <a:pPr indent="0" marL="0">
              <a:buNone/>
            </a:pPr>
            <a:r>
              <a:rPr lang="en-US" sz="6400" b="1" dirty="0">
                <a:solidFill>
                  <a:srgbClr val="FFFFFF"/>
                </a:solidFill>
                <a:latin typeface="Georgia" pitchFamily="34" charset="0"/>
                <a:ea typeface="Georgia" pitchFamily="34" charset="-122"/>
                <a:cs typeface="Georgia" pitchFamily="34" charset="-120"/>
              </a:rPr>
              <a:t>shaerlock</a:t>
            </a:r>
            <a:endParaRPr lang="en-US" sz="6400" dirty="0"/>
          </a:p>
        </p:txBody>
      </p:sp>
      <p:sp>
        <p:nvSpPr>
          <p:cNvPr id="5" name="Text 3"/>
          <p:cNvSpPr/>
          <p:nvPr/>
        </p:nvSpPr>
        <p:spPr>
          <a:xfrm>
            <a:off x="2926080" y="3383280"/>
            <a:ext cx="8229600" cy="548640"/>
          </a:xfrm>
          <a:prstGeom prst="rect">
            <a:avLst/>
          </a:prstGeom>
          <a:noFill/>
          <a:ln/>
        </p:spPr>
        <p:txBody>
          <a:bodyPr wrap="square" rtlCol="0" anchor="ctr"/>
          <a:lstStyle/>
          <a:p>
            <a:pPr indent="0" marL="0">
              <a:buNone/>
            </a:pPr>
            <a:r>
              <a:rPr lang="en-US" sz="2000" i="1" dirty="0">
                <a:solidFill>
                  <a:srgbClr val="CADCFC"/>
                </a:solidFill>
                <a:latin typeface="Calibri" pitchFamily="34" charset="0"/>
                <a:ea typeface="Calibri" pitchFamily="34" charset="-122"/>
                <a:cs typeface="Calibri" pitchFamily="34" charset="-120"/>
              </a:rPr>
              <a:t>Auditing iptables with separated detection and explanation.</a:t>
            </a:r>
            <a:endParaRPr lang="en-US" sz="2000" dirty="0"/>
          </a:p>
        </p:txBody>
      </p:sp>
      <p:sp>
        <p:nvSpPr>
          <p:cNvPr id="6" name="Shape 4"/>
          <p:cNvSpPr/>
          <p:nvPr/>
        </p:nvSpPr>
        <p:spPr>
          <a:xfrm>
            <a:off x="0" y="5760720"/>
            <a:ext cx="12188952" cy="1097280"/>
          </a:xfrm>
          <a:prstGeom prst="rect">
            <a:avLst/>
          </a:prstGeom>
          <a:solidFill>
            <a:srgbClr val="0A0F2C"/>
          </a:solidFill>
          <a:ln w="12700">
            <a:solidFill>
              <a:srgbClr val="0A0F2C"/>
            </a:solidFill>
            <a:prstDash val="solid"/>
          </a:ln>
        </p:spPr>
      </p:sp>
      <p:sp>
        <p:nvSpPr>
          <p:cNvPr id="7" name="Text 5"/>
          <p:cNvSpPr/>
          <p:nvPr/>
        </p:nvSpPr>
        <p:spPr>
          <a:xfrm>
            <a:off x="457200" y="5897880"/>
            <a:ext cx="10972800" cy="365760"/>
          </a:xfrm>
          <a:prstGeom prst="rect">
            <a:avLst/>
          </a:prstGeom>
          <a:noFill/>
          <a:ln/>
        </p:spPr>
        <p:txBody>
          <a:bodyPr wrap="square" rtlCol="0" anchor="ctr"/>
          <a:lstStyle/>
          <a:p>
            <a:pPr indent="0" marL="0">
              <a:buNone/>
            </a:pPr>
            <a:r>
              <a:rPr lang="en-US" sz="1600" spc="150" kern="0" dirty="0">
                <a:solidFill>
                  <a:srgbClr val="CADCFC"/>
                </a:solidFill>
                <a:latin typeface="Calibri" pitchFamily="34" charset="0"/>
                <a:ea typeface="Calibri" pitchFamily="34" charset="-122"/>
                <a:cs typeface="Calibri" pitchFamily="34" charset="-120"/>
              </a:rPr>
              <a:t>ENPM693 — Network Security · Final Project</a:t>
            </a:r>
            <a:endParaRPr lang="en-US" sz="1600" dirty="0"/>
          </a:p>
        </p:txBody>
      </p:sp>
      <p:sp>
        <p:nvSpPr>
          <p:cNvPr id="8" name="Text 6"/>
          <p:cNvSpPr/>
          <p:nvPr/>
        </p:nvSpPr>
        <p:spPr>
          <a:xfrm>
            <a:off x="457200" y="6355080"/>
            <a:ext cx="10972800" cy="365760"/>
          </a:xfrm>
          <a:prstGeom prst="rect">
            <a:avLst/>
          </a:prstGeom>
          <a:noFill/>
          <a:ln/>
        </p:spPr>
        <p:txBody>
          <a:bodyPr wrap="square" rtlCol="0" anchor="ctr"/>
          <a:lstStyle/>
          <a:p>
            <a:pPr indent="0" marL="0">
              <a:buNone/>
            </a:pPr>
            <a:r>
              <a:rPr lang="en-US" sz="1600" b="1" dirty="0">
                <a:solidFill>
                  <a:srgbClr val="CADCFC"/>
                </a:solidFill>
                <a:latin typeface="Calibri" pitchFamily="34" charset="0"/>
                <a:ea typeface="Calibri" pitchFamily="34" charset="-122"/>
                <a:cs typeface="Calibri" pitchFamily="34" charset="-120"/>
              </a:rPr>
              <a:t>Joshua Alwin · University of Maryland ·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B"/>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2761"/>
          </a:solidFill>
          <a:ln/>
        </p:spPr>
      </p:sp>
      <p:sp>
        <p:nvSpPr>
          <p:cNvPr id="3" name="Shape 1"/>
          <p:cNvSpPr/>
          <p:nvPr/>
        </p:nvSpPr>
        <p:spPr>
          <a:xfrm>
            <a:off x="457200" y="411480"/>
            <a:ext cx="320040" cy="320040"/>
          </a:xfrm>
          <a:prstGeom prst="ellipse">
            <a:avLst/>
          </a:prstGeom>
          <a:solidFill>
            <a:srgbClr val="1E2761"/>
          </a:solidFill>
          <a:ln w="12700">
            <a:solidFill>
              <a:srgbClr val="1E2761"/>
            </a:solidFill>
            <a:prstDash val="solid"/>
          </a:ln>
        </p:spPr>
      </p:sp>
      <p:sp>
        <p:nvSpPr>
          <p:cNvPr id="4" name="Text 2"/>
          <p:cNvSpPr/>
          <p:nvPr/>
        </p:nvSpPr>
        <p:spPr>
          <a:xfrm>
            <a:off x="457200" y="411480"/>
            <a:ext cx="320040" cy="32004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5" name="Text 3"/>
          <p:cNvSpPr/>
          <p:nvPr/>
        </p:nvSpPr>
        <p:spPr>
          <a:xfrm>
            <a:off x="868680" y="384048"/>
            <a:ext cx="7315200" cy="365760"/>
          </a:xfrm>
          <a:prstGeom prst="rect">
            <a:avLst/>
          </a:prstGeom>
          <a:noFill/>
          <a:ln/>
        </p:spPr>
        <p:txBody>
          <a:bodyPr wrap="square" rtlCol="0" anchor="ctr"/>
          <a:lstStyle/>
          <a:p>
            <a:pPr indent="0" marL="0">
              <a:buNone/>
            </a:pPr>
            <a:r>
              <a:rPr lang="en-US" sz="1400" b="1" spc="200" kern="0" dirty="0">
                <a:solidFill>
                  <a:srgbClr val="5A6378"/>
                </a:solidFill>
                <a:latin typeface="Calibri" pitchFamily="34" charset="0"/>
                <a:ea typeface="Calibri" pitchFamily="34" charset="-122"/>
                <a:cs typeface="Calibri" pitchFamily="34" charset="-120"/>
              </a:rPr>
              <a:t>PROBLEM</a:t>
            </a:r>
            <a:endParaRPr lang="en-US" sz="1400" dirty="0"/>
          </a:p>
        </p:txBody>
      </p:sp>
      <p:sp>
        <p:nvSpPr>
          <p:cNvPr id="6" name="Text 4"/>
          <p:cNvSpPr/>
          <p:nvPr/>
        </p:nvSpPr>
        <p:spPr>
          <a:xfrm>
            <a:off x="457200" y="777240"/>
            <a:ext cx="11274552" cy="960120"/>
          </a:xfrm>
          <a:prstGeom prst="rect">
            <a:avLst/>
          </a:prstGeom>
          <a:noFill/>
          <a:ln/>
        </p:spPr>
        <p:txBody>
          <a:bodyPr wrap="square" rtlCol="0" anchor="ctr"/>
          <a:lstStyle/>
          <a:p>
            <a:pPr indent="0" marL="0">
              <a:buNone/>
            </a:pPr>
            <a:r>
              <a:rPr lang="en-US" sz="3200" b="1" dirty="0">
                <a:solidFill>
                  <a:srgbClr val="1E2761"/>
                </a:solidFill>
                <a:latin typeface="Georgia" pitchFamily="34" charset="0"/>
                <a:ea typeface="Georgia" pitchFamily="34" charset="-122"/>
                <a:cs typeface="Georgia" pitchFamily="34" charset="-120"/>
              </a:rPr>
              <a:t>Conflating detection and explanation makes hallucinations undetectable.</a:t>
            </a:r>
            <a:endParaRPr lang="en-US" sz="3200" dirty="0"/>
          </a:p>
        </p:txBody>
      </p:sp>
      <p:sp>
        <p:nvSpPr>
          <p:cNvPr id="7" name="Shape 5"/>
          <p:cNvSpPr/>
          <p:nvPr/>
        </p:nvSpPr>
        <p:spPr>
          <a:xfrm>
            <a:off x="457200" y="2011680"/>
            <a:ext cx="5303520" cy="4023360"/>
          </a:xfrm>
          <a:prstGeom prst="roundRect">
            <a:avLst>
              <a:gd name="adj" fmla="val 2273"/>
            </a:avLst>
          </a:prstGeom>
          <a:solidFill>
            <a:srgbClr val="FFFFFF"/>
          </a:solidFill>
          <a:ln w="12700">
            <a:solidFill>
              <a:srgbClr val="E2E5EE"/>
            </a:solidFill>
            <a:prstDash val="solid"/>
          </a:ln>
        </p:spPr>
      </p:sp>
      <p:sp>
        <p:nvSpPr>
          <p:cNvPr id="8" name="Text 6"/>
          <p:cNvSpPr/>
          <p:nvPr/>
        </p:nvSpPr>
        <p:spPr>
          <a:xfrm>
            <a:off x="731520" y="2194560"/>
            <a:ext cx="4754880" cy="457200"/>
          </a:xfrm>
          <a:prstGeom prst="rect">
            <a:avLst/>
          </a:prstGeom>
          <a:noFill/>
          <a:ln/>
        </p:spPr>
        <p:txBody>
          <a:bodyPr wrap="square" rtlCol="0" anchor="ctr"/>
          <a:lstStyle/>
          <a:p>
            <a:pPr indent="0" marL="0">
              <a:buNone/>
            </a:pPr>
            <a:r>
              <a:rPr lang="en-US" sz="2200" b="1" dirty="0">
                <a:solidFill>
                  <a:srgbClr val="F96167"/>
                </a:solidFill>
                <a:latin typeface="Georgia" pitchFamily="34" charset="0"/>
                <a:ea typeface="Georgia" pitchFamily="34" charset="-122"/>
                <a:cs typeface="Georgia" pitchFamily="34" charset="-120"/>
              </a:rPr>
              <a:t>Conflated</a:t>
            </a:r>
            <a:endParaRPr lang="en-US" sz="2200" dirty="0"/>
          </a:p>
        </p:txBody>
      </p:sp>
      <p:sp>
        <p:nvSpPr>
          <p:cNvPr id="9" name="Text 7"/>
          <p:cNvSpPr/>
          <p:nvPr/>
        </p:nvSpPr>
        <p:spPr>
          <a:xfrm>
            <a:off x="731520" y="2788920"/>
            <a:ext cx="4754880" cy="64008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Detection </a:t>
            </a:r>
            <a:pPr indent="0" marL="0">
              <a:buNone/>
            </a:pPr>
            <a:r>
              <a:rPr lang="en-US" sz="1600" dirty="0">
                <a:solidFill>
                  <a:srgbClr val="5A6378"/>
                </a:solidFill>
                <a:latin typeface="Calibri" pitchFamily="34" charset="0"/>
                <a:ea typeface="Calibri" pitchFamily="34" charset="-122"/>
                <a:cs typeface="Calibri" pitchFamily="34" charset="-120"/>
              </a:rPr>
              <a:t>and </a:t>
            </a:r>
            <a:pPr indent="0" marL="0">
              <a:buNone/>
            </a:pPr>
            <a:r>
              <a:rPr lang="en-US" sz="1600" b="1" dirty="0">
                <a:solidFill>
                  <a:srgbClr val="1E2761"/>
                </a:solidFill>
                <a:latin typeface="Calibri" pitchFamily="34" charset="0"/>
                <a:ea typeface="Calibri" pitchFamily="34" charset="-122"/>
                <a:cs typeface="Calibri" pitchFamily="34" charset="-120"/>
              </a:rPr>
              <a:t>explanation </a:t>
            </a:r>
            <a:pPr indent="0" marL="0">
              <a:buNone/>
            </a:pPr>
            <a:r>
              <a:rPr lang="en-US" sz="1600" dirty="0">
                <a:solidFill>
                  <a:srgbClr val="5A6378"/>
                </a:solidFill>
                <a:latin typeface="Calibri" pitchFamily="34" charset="0"/>
                <a:ea typeface="Calibri" pitchFamily="34" charset="-122"/>
                <a:cs typeface="Calibri" pitchFamily="34" charset="-120"/>
              </a:rPr>
              <a:t>live in the same model call.</a:t>
            </a:r>
            <a:endParaRPr lang="en-US" sz="1600" dirty="0"/>
          </a:p>
        </p:txBody>
      </p:sp>
      <p:sp>
        <p:nvSpPr>
          <p:cNvPr id="10" name="Text 8"/>
          <p:cNvSpPr/>
          <p:nvPr/>
        </p:nvSpPr>
        <p:spPr>
          <a:xfrm>
            <a:off x="731520" y="3429000"/>
            <a:ext cx="4754880" cy="2377440"/>
          </a:xfrm>
          <a:prstGeom prst="rect">
            <a:avLst/>
          </a:prstGeom>
          <a:noFill/>
          <a:ln/>
        </p:spPr>
        <p:txBody>
          <a:bodyPr wrap="square" rtlCol="0" anchor="ctr"/>
          <a:lstStyle/>
          <a:p>
            <a:pPr indent="0" marL="0">
              <a:spcAft>
                <a:spcPts val="1400"/>
              </a:spcAft>
              <a:buNone/>
            </a:pPr>
            <a:r>
              <a:rPr lang="en-US" sz="1600" dirty="0">
                <a:solidFill>
                  <a:srgbClr val="1E2761"/>
                </a:solidFill>
                <a:latin typeface="Calibri" pitchFamily="34" charset="0"/>
                <a:ea typeface="Calibri" pitchFamily="34" charset="-122"/>
                <a:cs typeface="Calibri" pitchFamily="34" charset="-120"/>
              </a:rPr>
              <a:t>→ Hallucinations look like findings.</a:t>
            </a:r>
            <a:endParaRPr lang="en-US" sz="1600" dirty="0"/>
          </a:p>
          <a:p>
            <a:pPr indent="0" marL="0">
              <a:spcAft>
                <a:spcPts val="1400"/>
              </a:spcAft>
              <a:buNone/>
            </a:pPr>
            <a:r>
              <a:rPr lang="en-US" sz="1600" dirty="0">
                <a:solidFill>
                  <a:srgbClr val="1E2761"/>
                </a:solidFill>
                <a:latin typeface="Calibri" pitchFamily="34" charset="0"/>
                <a:ea typeface="Calibri" pitchFamily="34" charset="-122"/>
                <a:cs typeface="Calibri" pitchFamily="34" charset="-120"/>
              </a:rPr>
              <a:t>→ Reproducibility is at the model's mercy.</a:t>
            </a:r>
            <a:endParaRPr lang="en-US" sz="1600" dirty="0"/>
          </a:p>
          <a:p>
            <a:pPr indent="0" marL="0">
              <a:spcAft>
                <a:spcPts val="1400"/>
              </a:spcAft>
              <a:buNone/>
            </a:pPr>
            <a:r>
              <a:rPr lang="en-US" sz="1600" dirty="0">
                <a:solidFill>
                  <a:srgbClr val="1E2761"/>
                </a:solidFill>
                <a:latin typeface="Calibri" pitchFamily="34" charset="0"/>
                <a:ea typeface="Calibri" pitchFamily="34" charset="-122"/>
                <a:cs typeface="Calibri" pitchFamily="34" charset="-120"/>
              </a:rPr>
              <a:t>→ No metric separates discovery from prose.</a:t>
            </a:r>
            <a:endParaRPr lang="en-US" sz="1600" dirty="0"/>
          </a:p>
        </p:txBody>
      </p:sp>
      <p:sp>
        <p:nvSpPr>
          <p:cNvPr id="11" name="Shape 9"/>
          <p:cNvSpPr/>
          <p:nvPr/>
        </p:nvSpPr>
        <p:spPr>
          <a:xfrm>
            <a:off x="6400800" y="2011680"/>
            <a:ext cx="5303520" cy="4023360"/>
          </a:xfrm>
          <a:prstGeom prst="roundRect">
            <a:avLst>
              <a:gd name="adj" fmla="val 2273"/>
            </a:avLst>
          </a:prstGeom>
          <a:solidFill>
            <a:srgbClr val="1E2761"/>
          </a:solidFill>
          <a:ln w="12700">
            <a:solidFill>
              <a:srgbClr val="1E2761"/>
            </a:solidFill>
            <a:prstDash val="solid"/>
          </a:ln>
        </p:spPr>
      </p:sp>
      <p:sp>
        <p:nvSpPr>
          <p:cNvPr id="12" name="Text 10"/>
          <p:cNvSpPr/>
          <p:nvPr/>
        </p:nvSpPr>
        <p:spPr>
          <a:xfrm>
            <a:off x="6675120" y="2194560"/>
            <a:ext cx="4754880" cy="457200"/>
          </a:xfrm>
          <a:prstGeom prst="rect">
            <a:avLst/>
          </a:prstGeom>
          <a:noFill/>
          <a:ln/>
        </p:spPr>
        <p:txBody>
          <a:bodyPr wrap="square" rtlCol="0" anchor="ctr"/>
          <a:lstStyle/>
          <a:p>
            <a:pPr indent="0" marL="0">
              <a:buNone/>
            </a:pPr>
            <a:r>
              <a:rPr lang="en-US" sz="2200" b="1" dirty="0">
                <a:solidFill>
                  <a:srgbClr val="CADCFC"/>
                </a:solidFill>
                <a:latin typeface="Georgia" pitchFamily="34" charset="0"/>
                <a:ea typeface="Georgia" pitchFamily="34" charset="-122"/>
                <a:cs typeface="Georgia" pitchFamily="34" charset="-120"/>
              </a:rPr>
              <a:t>Separated</a:t>
            </a:r>
            <a:endParaRPr lang="en-US" sz="2200" dirty="0"/>
          </a:p>
        </p:txBody>
      </p:sp>
      <p:sp>
        <p:nvSpPr>
          <p:cNvPr id="13" name="Text 11"/>
          <p:cNvSpPr/>
          <p:nvPr/>
        </p:nvSpPr>
        <p:spPr>
          <a:xfrm>
            <a:off x="6675120" y="2788920"/>
            <a:ext cx="475488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Discovery </a:t>
            </a:r>
            <a:pPr indent="0" marL="0">
              <a:buNone/>
            </a:pPr>
            <a:r>
              <a:rPr lang="en-US" sz="1600" dirty="0">
                <a:solidFill>
                  <a:srgbClr val="CADCFC"/>
                </a:solidFill>
                <a:latin typeface="Calibri" pitchFamily="34" charset="0"/>
                <a:ea typeface="Calibri" pitchFamily="34" charset="-122"/>
                <a:cs typeface="Calibri" pitchFamily="34" charset="-120"/>
              </a:rPr>
              <a:t>is a deterministic algorithm. </a:t>
            </a:r>
            <a:pPr indent="0" marL="0">
              <a:buNone/>
            </a:pPr>
            <a:r>
              <a:rPr lang="en-US" sz="1600" b="1" dirty="0">
                <a:solidFill>
                  <a:srgbClr val="FFFFFF"/>
                </a:solidFill>
                <a:latin typeface="Calibri" pitchFamily="34" charset="0"/>
                <a:ea typeface="Calibri" pitchFamily="34" charset="-122"/>
                <a:cs typeface="Calibri" pitchFamily="34" charset="-120"/>
              </a:rPr>
              <a:t>The LLM only narrates.</a:t>
            </a:r>
            <a:endParaRPr lang="en-US" sz="1600" dirty="0"/>
          </a:p>
        </p:txBody>
      </p:sp>
      <p:sp>
        <p:nvSpPr>
          <p:cNvPr id="14" name="Text 12"/>
          <p:cNvSpPr/>
          <p:nvPr/>
        </p:nvSpPr>
        <p:spPr>
          <a:xfrm>
            <a:off x="6675120" y="3566160"/>
            <a:ext cx="4754880" cy="2377440"/>
          </a:xfrm>
          <a:prstGeom prst="rect">
            <a:avLst/>
          </a:prstGeom>
          <a:noFill/>
          <a:ln/>
        </p:spPr>
        <p:txBody>
          <a:bodyPr wrap="square" rtlCol="0" anchor="ctr"/>
          <a:lstStyle/>
          <a:p>
            <a:pPr indent="0" marL="0">
              <a:spcAft>
                <a:spcPts val="1400"/>
              </a:spcAft>
              <a:buNone/>
            </a:pPr>
            <a:r>
              <a:rPr lang="en-US" sz="1600" dirty="0">
                <a:solidFill>
                  <a:srgbClr val="CADCFC"/>
                </a:solidFill>
                <a:latin typeface="Calibri" pitchFamily="34" charset="0"/>
                <a:ea typeface="Calibri" pitchFamily="34" charset="-122"/>
                <a:cs typeface="Calibri" pitchFamily="34" charset="-120"/>
              </a:rPr>
              <a:t>→ Pairwise Al-Shaer &amp; Hamed (2004).</a:t>
            </a:r>
            <a:endParaRPr lang="en-US" sz="1600" dirty="0"/>
          </a:p>
          <a:p>
            <a:pPr indent="0" marL="0">
              <a:spcAft>
                <a:spcPts val="1400"/>
              </a:spcAft>
              <a:buNone/>
            </a:pPr>
            <a:r>
              <a:rPr lang="en-US" sz="1600" dirty="0">
                <a:solidFill>
                  <a:srgbClr val="CADCFC"/>
                </a:solidFill>
                <a:latin typeface="Calibri" pitchFamily="34" charset="0"/>
                <a:ea typeface="Calibri" pitchFamily="34" charset="-122"/>
                <a:cs typeface="Calibri" pitchFamily="34" charset="-120"/>
              </a:rPr>
              <a:t>→ LLM constrained to JSON, indices fixed.</a:t>
            </a:r>
            <a:endParaRPr lang="en-US" sz="1600" dirty="0"/>
          </a:p>
          <a:p>
            <a:pPr indent="0" marL="0">
              <a:spcAft>
                <a:spcPts val="1400"/>
              </a:spcAft>
              <a:buNone/>
            </a:pPr>
            <a:r>
              <a:rPr lang="en-US" sz="1600" dirty="0">
                <a:solidFill>
                  <a:srgbClr val="CADCFC"/>
                </a:solidFill>
                <a:latin typeface="Calibri" pitchFamily="34" charset="0"/>
                <a:ea typeface="Calibri" pitchFamily="34" charset="-122"/>
                <a:cs typeface="Calibri" pitchFamily="34" charset="-120"/>
              </a:rPr>
              <a:t>→ Hallucinations are counted, not believed.</a:t>
            </a:r>
            <a:endParaRPr lang="en-US" sz="1600" dirty="0"/>
          </a:p>
        </p:txBody>
      </p:sp>
      <p:sp>
        <p:nvSpPr>
          <p:cNvPr id="15" name="Text 13"/>
          <p:cNvSpPr/>
          <p:nvPr/>
        </p:nvSpPr>
        <p:spPr>
          <a:xfrm>
            <a:off x="457200" y="6446520"/>
            <a:ext cx="3657600" cy="274320"/>
          </a:xfrm>
          <a:prstGeom prst="rect">
            <a:avLst/>
          </a:prstGeom>
          <a:noFill/>
          <a:ln/>
        </p:spPr>
        <p:txBody>
          <a:bodyPr wrap="square" rtlCol="0" anchor="ctr"/>
          <a:lstStyle/>
          <a:p>
            <a:pPr indent="0" marL="0">
              <a:buNone/>
            </a:pPr>
            <a:r>
              <a:rPr lang="en-US" sz="1000" i="1" dirty="0">
                <a:solidFill>
                  <a:srgbClr val="5A6378"/>
                </a:solidFill>
                <a:latin typeface="Calibri" pitchFamily="34" charset="0"/>
                <a:ea typeface="Calibri" pitchFamily="34" charset="-122"/>
                <a:cs typeface="Calibri" pitchFamily="34" charset="-120"/>
              </a:rPr>
              <a:t>shaerlock · ENPM693</a:t>
            </a:r>
            <a:endParaRPr lang="en-US" sz="1000" dirty="0"/>
          </a:p>
        </p:txBody>
      </p:sp>
      <p:sp>
        <p:nvSpPr>
          <p:cNvPr id="16" name="Text 14"/>
          <p:cNvSpPr/>
          <p:nvPr/>
        </p:nvSpPr>
        <p:spPr>
          <a:xfrm>
            <a:off x="11274552" y="6446520"/>
            <a:ext cx="73152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2 / 11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B"/>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2761"/>
          </a:solidFill>
          <a:ln/>
        </p:spPr>
      </p:sp>
      <p:sp>
        <p:nvSpPr>
          <p:cNvPr id="3" name="Shape 1"/>
          <p:cNvSpPr/>
          <p:nvPr/>
        </p:nvSpPr>
        <p:spPr>
          <a:xfrm>
            <a:off x="457200" y="411480"/>
            <a:ext cx="320040" cy="320040"/>
          </a:xfrm>
          <a:prstGeom prst="ellipse">
            <a:avLst/>
          </a:prstGeom>
          <a:solidFill>
            <a:srgbClr val="1E2761"/>
          </a:solidFill>
          <a:ln w="12700">
            <a:solidFill>
              <a:srgbClr val="1E2761"/>
            </a:solidFill>
            <a:prstDash val="solid"/>
          </a:ln>
        </p:spPr>
      </p:sp>
      <p:sp>
        <p:nvSpPr>
          <p:cNvPr id="4" name="Text 2"/>
          <p:cNvSpPr/>
          <p:nvPr/>
        </p:nvSpPr>
        <p:spPr>
          <a:xfrm>
            <a:off x="457200" y="411480"/>
            <a:ext cx="320040" cy="32004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5" name="Text 3"/>
          <p:cNvSpPr/>
          <p:nvPr/>
        </p:nvSpPr>
        <p:spPr>
          <a:xfrm>
            <a:off x="868680" y="384048"/>
            <a:ext cx="7315200" cy="365760"/>
          </a:xfrm>
          <a:prstGeom prst="rect">
            <a:avLst/>
          </a:prstGeom>
          <a:noFill/>
          <a:ln/>
        </p:spPr>
        <p:txBody>
          <a:bodyPr wrap="square" rtlCol="0" anchor="ctr"/>
          <a:lstStyle/>
          <a:p>
            <a:pPr indent="0" marL="0">
              <a:buNone/>
            </a:pPr>
            <a:r>
              <a:rPr lang="en-US" sz="1400" b="1" spc="200" kern="0" dirty="0">
                <a:solidFill>
                  <a:srgbClr val="5A6378"/>
                </a:solidFill>
                <a:latin typeface="Calibri" pitchFamily="34" charset="0"/>
                <a:ea typeface="Calibri" pitchFamily="34" charset="-122"/>
                <a:cs typeface="Calibri" pitchFamily="34" charset="-120"/>
              </a:rPr>
              <a:t>COURSE ANGLE</a:t>
            </a:r>
            <a:endParaRPr lang="en-US" sz="1400" dirty="0"/>
          </a:p>
        </p:txBody>
      </p:sp>
      <p:sp>
        <p:nvSpPr>
          <p:cNvPr id="6" name="Text 4"/>
          <p:cNvSpPr/>
          <p:nvPr/>
        </p:nvSpPr>
        <p:spPr>
          <a:xfrm>
            <a:off x="457200" y="777240"/>
            <a:ext cx="11274552" cy="960120"/>
          </a:xfrm>
          <a:prstGeom prst="rect">
            <a:avLst/>
          </a:prstGeom>
          <a:noFill/>
          <a:ln/>
        </p:spPr>
        <p:txBody>
          <a:bodyPr wrap="square" rtlCol="0" anchor="ctr"/>
          <a:lstStyle/>
          <a:p>
            <a:pPr indent="0" marL="0">
              <a:buNone/>
            </a:pPr>
            <a:r>
              <a:rPr lang="en-US" sz="3200" b="1" dirty="0">
                <a:solidFill>
                  <a:srgbClr val="1E2761"/>
                </a:solidFill>
                <a:latin typeface="Georgia" pitchFamily="34" charset="0"/>
                <a:ea typeface="Georgia" pitchFamily="34" charset="-122"/>
                <a:cs typeface="Georgia" pitchFamily="34" charset="-120"/>
              </a:rPr>
              <a:t>shaerlock uses AI as an auditor, not a detector.</a:t>
            </a:r>
            <a:endParaRPr lang="en-US" sz="3200" dirty="0"/>
          </a:p>
        </p:txBody>
      </p:sp>
      <p:sp>
        <p:nvSpPr>
          <p:cNvPr id="7" name="Shape 5"/>
          <p:cNvSpPr/>
          <p:nvPr/>
        </p:nvSpPr>
        <p:spPr>
          <a:xfrm>
            <a:off x="640080" y="2011680"/>
            <a:ext cx="10881360" cy="2560320"/>
          </a:xfrm>
          <a:prstGeom prst="roundRect">
            <a:avLst>
              <a:gd name="adj" fmla="val 5357"/>
            </a:avLst>
          </a:prstGeom>
          <a:solidFill>
            <a:srgbClr val="CADCFC"/>
          </a:solidFill>
          <a:ln w="12700">
            <a:solidFill>
              <a:srgbClr val="1E2761"/>
            </a:solidFill>
            <a:prstDash val="solid"/>
          </a:ln>
        </p:spPr>
      </p:sp>
      <p:sp>
        <p:nvSpPr>
          <p:cNvPr id="8" name="Text 6"/>
          <p:cNvSpPr/>
          <p:nvPr/>
        </p:nvSpPr>
        <p:spPr>
          <a:xfrm>
            <a:off x="548640" y="1600200"/>
            <a:ext cx="1097280" cy="1463040"/>
          </a:xfrm>
          <a:prstGeom prst="rect">
            <a:avLst/>
          </a:prstGeom>
          <a:noFill/>
          <a:ln/>
        </p:spPr>
        <p:txBody>
          <a:bodyPr wrap="square" rtlCol="0" anchor="ctr"/>
          <a:lstStyle/>
          <a:p>
            <a:pPr indent="0" marL="0">
              <a:buNone/>
            </a:pPr>
            <a:r>
              <a:rPr lang="en-US" sz="11000" b="1" dirty="0">
                <a:solidFill>
                  <a:srgbClr val="1E2761"/>
                </a:solidFill>
                <a:latin typeface="Georgia" pitchFamily="34" charset="0"/>
                <a:ea typeface="Georgia" pitchFamily="34" charset="-122"/>
                <a:cs typeface="Georgia" pitchFamily="34" charset="-120"/>
              </a:rPr>
              <a:t>“</a:t>
            </a:r>
            <a:endParaRPr lang="en-US" sz="11000" dirty="0"/>
          </a:p>
        </p:txBody>
      </p:sp>
      <p:sp>
        <p:nvSpPr>
          <p:cNvPr id="9" name="Text 7"/>
          <p:cNvSpPr/>
          <p:nvPr/>
        </p:nvSpPr>
        <p:spPr>
          <a:xfrm>
            <a:off x="1554480" y="2194560"/>
            <a:ext cx="9601200" cy="2194560"/>
          </a:xfrm>
          <a:prstGeom prst="rect">
            <a:avLst/>
          </a:prstGeom>
          <a:noFill/>
          <a:ln/>
        </p:spPr>
        <p:txBody>
          <a:bodyPr wrap="square" rtlCol="0" anchor="ctr"/>
          <a:lstStyle/>
          <a:p>
            <a:pPr indent="0" marL="0">
              <a:spcAft>
                <a:spcPts val="800"/>
              </a:spcAft>
              <a:buNone/>
            </a:pPr>
            <a:r>
              <a:rPr lang="en-US" sz="2200" i="1" dirty="0">
                <a:solidFill>
                  <a:srgbClr val="1E2761"/>
                </a:solidFill>
                <a:latin typeface="Georgia" pitchFamily="34" charset="0"/>
                <a:ea typeface="Georgia" pitchFamily="34" charset="-122"/>
                <a:cs typeface="Georgia" pitchFamily="34" charset="-120"/>
              </a:rPr>
              <a:t>The LLM does not find bugs. A deterministic algorithm does.</a:t>
            </a:r>
            <a:endParaRPr lang="en-US" sz="2200" dirty="0"/>
          </a:p>
          <a:p>
            <a:pPr indent="0" marL="0">
              <a:spcAft>
                <a:spcPts val="800"/>
              </a:spcAft>
              <a:buNone/>
            </a:pPr>
            <a:r>
              <a:rPr lang="en-US" sz="2200" i="1" dirty="0">
                <a:solidFill>
                  <a:srgbClr val="1E2761"/>
                </a:solidFill>
                <a:latin typeface="Georgia" pitchFamily="34" charset="0"/>
                <a:ea typeface="Georgia" pitchFamily="34" charset="-122"/>
                <a:cs typeface="Georgia" pitchFamily="34" charset="-120"/>
              </a:rPr>
              <a:t>The LLM only explains them — and the eval harness counts when it lies.</a:t>
            </a:r>
            <a:endParaRPr lang="en-US" sz="2200" dirty="0"/>
          </a:p>
        </p:txBody>
      </p:sp>
      <p:sp>
        <p:nvSpPr>
          <p:cNvPr id="10" name="Shape 8"/>
          <p:cNvSpPr/>
          <p:nvPr/>
        </p:nvSpPr>
        <p:spPr>
          <a:xfrm>
            <a:off x="640080" y="5029200"/>
            <a:ext cx="457200" cy="457200"/>
          </a:xfrm>
          <a:prstGeom prst="ellipse">
            <a:avLst/>
          </a:prstGeom>
          <a:solidFill>
            <a:srgbClr val="1E2761"/>
          </a:solidFill>
          <a:ln w="12700">
            <a:solidFill>
              <a:srgbClr val="1E2761"/>
            </a:solidFill>
            <a:prstDash val="solid"/>
          </a:ln>
        </p:spPr>
      </p:sp>
      <p:sp>
        <p:nvSpPr>
          <p:cNvPr id="11" name="Text 9"/>
          <p:cNvSpPr/>
          <p:nvPr/>
        </p:nvSpPr>
        <p:spPr>
          <a:xfrm>
            <a:off x="640080" y="5029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12" name="Text 10"/>
          <p:cNvSpPr/>
          <p:nvPr/>
        </p:nvSpPr>
        <p:spPr>
          <a:xfrm>
            <a:off x="1234440" y="4983480"/>
            <a:ext cx="3108960" cy="36576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Defensive</a:t>
            </a:r>
            <a:endParaRPr lang="en-US" sz="1800" dirty="0"/>
          </a:p>
        </p:txBody>
      </p:sp>
      <p:sp>
        <p:nvSpPr>
          <p:cNvPr id="13" name="Text 11"/>
          <p:cNvSpPr/>
          <p:nvPr/>
        </p:nvSpPr>
        <p:spPr>
          <a:xfrm>
            <a:off x="1234440" y="5349240"/>
            <a:ext cx="3108960" cy="457200"/>
          </a:xfrm>
          <a:prstGeom prst="rect">
            <a:avLst/>
          </a:prstGeom>
          <a:noFill/>
          <a:ln/>
        </p:spPr>
        <p:txBody>
          <a:bodyPr wrap="square" rtlCol="0" anchor="ctr"/>
          <a:lstStyle/>
          <a:p>
            <a:pPr indent="0" marL="0">
              <a:buNone/>
            </a:pPr>
            <a:r>
              <a:rPr lang="en-US" sz="1600" dirty="0">
                <a:solidFill>
                  <a:srgbClr val="5A6378"/>
                </a:solidFill>
                <a:latin typeface="Calibri" pitchFamily="34" charset="0"/>
                <a:ea typeface="Calibri" pitchFamily="34" charset="-122"/>
                <a:cs typeface="Calibri" pitchFamily="34" charset="-120"/>
              </a:rPr>
              <a:t>LLM measured, not trusted.</a:t>
            </a:r>
            <a:endParaRPr lang="en-US" sz="1600" dirty="0"/>
          </a:p>
        </p:txBody>
      </p:sp>
      <p:sp>
        <p:nvSpPr>
          <p:cNvPr id="14" name="Shape 12"/>
          <p:cNvSpPr/>
          <p:nvPr/>
        </p:nvSpPr>
        <p:spPr>
          <a:xfrm>
            <a:off x="4389120" y="5029200"/>
            <a:ext cx="457200" cy="457200"/>
          </a:xfrm>
          <a:prstGeom prst="ellipse">
            <a:avLst/>
          </a:prstGeom>
          <a:solidFill>
            <a:srgbClr val="1E2761"/>
          </a:solidFill>
          <a:ln w="12700">
            <a:solidFill>
              <a:srgbClr val="1E2761"/>
            </a:solidFill>
            <a:prstDash val="solid"/>
          </a:ln>
        </p:spPr>
      </p:sp>
      <p:sp>
        <p:nvSpPr>
          <p:cNvPr id="15" name="Text 13"/>
          <p:cNvSpPr/>
          <p:nvPr/>
        </p:nvSpPr>
        <p:spPr>
          <a:xfrm>
            <a:off x="4389120" y="5029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6" name="Text 14"/>
          <p:cNvSpPr/>
          <p:nvPr/>
        </p:nvSpPr>
        <p:spPr>
          <a:xfrm>
            <a:off x="4983480" y="4983480"/>
            <a:ext cx="3108960" cy="36576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Reproducible</a:t>
            </a:r>
            <a:endParaRPr lang="en-US" sz="1800" dirty="0"/>
          </a:p>
        </p:txBody>
      </p:sp>
      <p:sp>
        <p:nvSpPr>
          <p:cNvPr id="17" name="Text 15"/>
          <p:cNvSpPr/>
          <p:nvPr/>
        </p:nvSpPr>
        <p:spPr>
          <a:xfrm>
            <a:off x="4983480" y="5349240"/>
            <a:ext cx="3108960" cy="457200"/>
          </a:xfrm>
          <a:prstGeom prst="rect">
            <a:avLst/>
          </a:prstGeom>
          <a:noFill/>
          <a:ln/>
        </p:spPr>
        <p:txBody>
          <a:bodyPr wrap="square" rtlCol="0" anchor="ctr"/>
          <a:lstStyle/>
          <a:p>
            <a:pPr indent="0" marL="0">
              <a:buNone/>
            </a:pPr>
            <a:r>
              <a:rPr lang="en-US" sz="1600" dirty="0">
                <a:solidFill>
                  <a:srgbClr val="5A6378"/>
                </a:solidFill>
                <a:latin typeface="Calibri" pitchFamily="34" charset="0"/>
                <a:ea typeface="Calibri" pitchFamily="34" charset="-122"/>
                <a:cs typeface="Calibri" pitchFamily="34" charset="-120"/>
              </a:rPr>
              <a:t>Same fixture, identical findings.</a:t>
            </a:r>
            <a:endParaRPr lang="en-US" sz="1600" dirty="0"/>
          </a:p>
        </p:txBody>
      </p:sp>
      <p:sp>
        <p:nvSpPr>
          <p:cNvPr id="18" name="Shape 16"/>
          <p:cNvSpPr/>
          <p:nvPr/>
        </p:nvSpPr>
        <p:spPr>
          <a:xfrm>
            <a:off x="8138160" y="5029200"/>
            <a:ext cx="457200" cy="457200"/>
          </a:xfrm>
          <a:prstGeom prst="ellipse">
            <a:avLst/>
          </a:prstGeom>
          <a:solidFill>
            <a:srgbClr val="1E2761"/>
          </a:solidFill>
          <a:ln w="12700">
            <a:solidFill>
              <a:srgbClr val="1E2761"/>
            </a:solidFill>
            <a:prstDash val="solid"/>
          </a:ln>
        </p:spPr>
      </p:sp>
      <p:sp>
        <p:nvSpPr>
          <p:cNvPr id="19" name="Text 17"/>
          <p:cNvSpPr/>
          <p:nvPr/>
        </p:nvSpPr>
        <p:spPr>
          <a:xfrm>
            <a:off x="8138160" y="5029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0" name="Text 18"/>
          <p:cNvSpPr/>
          <p:nvPr/>
        </p:nvSpPr>
        <p:spPr>
          <a:xfrm>
            <a:off x="8732520" y="4983480"/>
            <a:ext cx="3108960" cy="36576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Cited</a:t>
            </a:r>
            <a:endParaRPr lang="en-US" sz="1800" dirty="0"/>
          </a:p>
        </p:txBody>
      </p:sp>
      <p:sp>
        <p:nvSpPr>
          <p:cNvPr id="21" name="Text 19"/>
          <p:cNvSpPr/>
          <p:nvPr/>
        </p:nvSpPr>
        <p:spPr>
          <a:xfrm>
            <a:off x="8732520" y="5349240"/>
            <a:ext cx="3108960" cy="457200"/>
          </a:xfrm>
          <a:prstGeom prst="rect">
            <a:avLst/>
          </a:prstGeom>
          <a:noFill/>
          <a:ln/>
        </p:spPr>
        <p:txBody>
          <a:bodyPr wrap="square" rtlCol="0" anchor="ctr"/>
          <a:lstStyle/>
          <a:p>
            <a:pPr indent="0" marL="0">
              <a:buNone/>
            </a:pPr>
            <a:r>
              <a:rPr lang="en-US" sz="1600" dirty="0">
                <a:solidFill>
                  <a:srgbClr val="5A6378"/>
                </a:solidFill>
                <a:latin typeface="Calibri" pitchFamily="34" charset="0"/>
                <a:ea typeface="Calibri" pitchFamily="34" charset="-122"/>
                <a:cs typeface="Calibri" pitchFamily="34" charset="-120"/>
              </a:rPr>
              <a:t>Each anomaly maps to a paper.</a:t>
            </a:r>
            <a:endParaRPr lang="en-US" sz="1600" dirty="0"/>
          </a:p>
        </p:txBody>
      </p:sp>
      <p:sp>
        <p:nvSpPr>
          <p:cNvPr id="22" name="Text 20"/>
          <p:cNvSpPr/>
          <p:nvPr/>
        </p:nvSpPr>
        <p:spPr>
          <a:xfrm>
            <a:off x="457200" y="6446520"/>
            <a:ext cx="3657600" cy="274320"/>
          </a:xfrm>
          <a:prstGeom prst="rect">
            <a:avLst/>
          </a:prstGeom>
          <a:noFill/>
          <a:ln/>
        </p:spPr>
        <p:txBody>
          <a:bodyPr wrap="square" rtlCol="0" anchor="ctr"/>
          <a:lstStyle/>
          <a:p>
            <a:pPr indent="0" marL="0">
              <a:buNone/>
            </a:pPr>
            <a:r>
              <a:rPr lang="en-US" sz="1000" i="1" dirty="0">
                <a:solidFill>
                  <a:srgbClr val="5A6378"/>
                </a:solidFill>
                <a:latin typeface="Calibri" pitchFamily="34" charset="0"/>
                <a:ea typeface="Calibri" pitchFamily="34" charset="-122"/>
                <a:cs typeface="Calibri" pitchFamily="34" charset="-120"/>
              </a:rPr>
              <a:t>shaerlock · ENPM693</a:t>
            </a:r>
            <a:endParaRPr lang="en-US" sz="1000" dirty="0"/>
          </a:p>
        </p:txBody>
      </p:sp>
      <p:sp>
        <p:nvSpPr>
          <p:cNvPr id="23" name="Text 21"/>
          <p:cNvSpPr/>
          <p:nvPr/>
        </p:nvSpPr>
        <p:spPr>
          <a:xfrm>
            <a:off x="11274552" y="6446520"/>
            <a:ext cx="73152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3 / 11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B"/>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2761"/>
          </a:solidFill>
          <a:ln/>
        </p:spPr>
      </p:sp>
      <p:sp>
        <p:nvSpPr>
          <p:cNvPr id="3" name="Shape 1"/>
          <p:cNvSpPr/>
          <p:nvPr/>
        </p:nvSpPr>
        <p:spPr>
          <a:xfrm>
            <a:off x="457200" y="411480"/>
            <a:ext cx="320040" cy="320040"/>
          </a:xfrm>
          <a:prstGeom prst="ellipse">
            <a:avLst/>
          </a:prstGeom>
          <a:solidFill>
            <a:srgbClr val="1E2761"/>
          </a:solidFill>
          <a:ln w="12700">
            <a:solidFill>
              <a:srgbClr val="1E2761"/>
            </a:solidFill>
            <a:prstDash val="solid"/>
          </a:ln>
        </p:spPr>
      </p:sp>
      <p:sp>
        <p:nvSpPr>
          <p:cNvPr id="4" name="Text 2"/>
          <p:cNvSpPr/>
          <p:nvPr/>
        </p:nvSpPr>
        <p:spPr>
          <a:xfrm>
            <a:off x="457200" y="411480"/>
            <a:ext cx="320040" cy="32004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5" name="Text 3"/>
          <p:cNvSpPr/>
          <p:nvPr/>
        </p:nvSpPr>
        <p:spPr>
          <a:xfrm>
            <a:off x="868680" y="384048"/>
            <a:ext cx="7315200" cy="365760"/>
          </a:xfrm>
          <a:prstGeom prst="rect">
            <a:avLst/>
          </a:prstGeom>
          <a:noFill/>
          <a:ln/>
        </p:spPr>
        <p:txBody>
          <a:bodyPr wrap="square" rtlCol="0" anchor="ctr"/>
          <a:lstStyle/>
          <a:p>
            <a:pPr indent="0" marL="0">
              <a:buNone/>
            </a:pPr>
            <a:r>
              <a:rPr lang="en-US" sz="1400" b="1" spc="200" kern="0" dirty="0">
                <a:solidFill>
                  <a:srgbClr val="5A6378"/>
                </a:solidFill>
                <a:latin typeface="Calibri" pitchFamily="34" charset="0"/>
                <a:ea typeface="Calibri" pitchFamily="34" charset="-122"/>
                <a:cs typeface="Calibri" pitchFamily="34" charset="-120"/>
              </a:rPr>
              <a:t>ARCHITECTURE</a:t>
            </a:r>
            <a:endParaRPr lang="en-US" sz="1400" dirty="0"/>
          </a:p>
        </p:txBody>
      </p:sp>
      <p:sp>
        <p:nvSpPr>
          <p:cNvPr id="6" name="Text 4"/>
          <p:cNvSpPr/>
          <p:nvPr/>
        </p:nvSpPr>
        <p:spPr>
          <a:xfrm>
            <a:off x="457200" y="777240"/>
            <a:ext cx="11274552" cy="960120"/>
          </a:xfrm>
          <a:prstGeom prst="rect">
            <a:avLst/>
          </a:prstGeom>
          <a:noFill/>
          <a:ln/>
        </p:spPr>
        <p:txBody>
          <a:bodyPr wrap="square" rtlCol="0" anchor="ctr"/>
          <a:lstStyle/>
          <a:p>
            <a:pPr indent="0" marL="0">
              <a:buNone/>
            </a:pPr>
            <a:r>
              <a:rPr lang="en-US" sz="3200" b="1" dirty="0">
                <a:solidFill>
                  <a:srgbClr val="1E2761"/>
                </a:solidFill>
                <a:latin typeface="Georgia" pitchFamily="34" charset="0"/>
                <a:ea typeface="Georgia" pitchFamily="34" charset="-122"/>
                <a:cs typeface="Georgia" pitchFamily="34" charset="-120"/>
              </a:rPr>
              <a:t>A five-stage pipeline keeps the LLM out of the detection path.</a:t>
            </a:r>
            <a:endParaRPr lang="en-US" sz="3200" dirty="0"/>
          </a:p>
        </p:txBody>
      </p:sp>
      <p:sp>
        <p:nvSpPr>
          <p:cNvPr id="7" name="Shape 5"/>
          <p:cNvSpPr/>
          <p:nvPr/>
        </p:nvSpPr>
        <p:spPr>
          <a:xfrm>
            <a:off x="457200" y="2377440"/>
            <a:ext cx="2148840" cy="1463040"/>
          </a:xfrm>
          <a:prstGeom prst="roundRect">
            <a:avLst>
              <a:gd name="adj" fmla="val 6250"/>
            </a:avLst>
          </a:prstGeom>
          <a:solidFill>
            <a:srgbClr val="FFFFFF"/>
          </a:solidFill>
          <a:ln w="25400">
            <a:solidFill>
              <a:srgbClr val="1E2761"/>
            </a:solidFill>
            <a:prstDash val="solid"/>
          </a:ln>
        </p:spPr>
      </p:sp>
      <p:sp>
        <p:nvSpPr>
          <p:cNvPr id="8" name="Text 6"/>
          <p:cNvSpPr/>
          <p:nvPr/>
        </p:nvSpPr>
        <p:spPr>
          <a:xfrm>
            <a:off x="457200" y="2514600"/>
            <a:ext cx="2148840" cy="502920"/>
          </a:xfrm>
          <a:prstGeom prst="rect">
            <a:avLst/>
          </a:prstGeom>
          <a:noFill/>
          <a:ln/>
        </p:spPr>
        <p:txBody>
          <a:bodyPr wrap="square" rtlCol="0" anchor="ctr"/>
          <a:lstStyle/>
          <a:p>
            <a:pPr algn="ctr" indent="0" marL="0">
              <a:buNone/>
            </a:pPr>
            <a:r>
              <a:rPr lang="en-US" sz="2000" b="1" dirty="0">
                <a:solidFill>
                  <a:srgbClr val="1E2761"/>
                </a:solidFill>
                <a:latin typeface="Georgia" pitchFamily="34" charset="0"/>
                <a:ea typeface="Georgia" pitchFamily="34" charset="-122"/>
                <a:cs typeface="Georgia" pitchFamily="34" charset="-120"/>
              </a:rPr>
              <a:t>Parser</a:t>
            </a:r>
            <a:endParaRPr lang="en-US" sz="2000" dirty="0"/>
          </a:p>
        </p:txBody>
      </p:sp>
      <p:sp>
        <p:nvSpPr>
          <p:cNvPr id="9" name="Text 7"/>
          <p:cNvSpPr/>
          <p:nvPr/>
        </p:nvSpPr>
        <p:spPr>
          <a:xfrm>
            <a:off x="548640" y="3063240"/>
            <a:ext cx="1965960" cy="640080"/>
          </a:xfrm>
          <a:prstGeom prst="rect">
            <a:avLst/>
          </a:prstGeom>
          <a:noFill/>
          <a:ln/>
        </p:spPr>
        <p:txBody>
          <a:bodyPr wrap="square" rtlCol="0" anchor="ctr"/>
          <a:lstStyle/>
          <a:p>
            <a:pPr algn="ctr" indent="0" marL="0">
              <a:buNone/>
            </a:pPr>
            <a:r>
              <a:rPr lang="en-US" sz="1400" i="1" dirty="0">
                <a:solidFill>
                  <a:srgbClr val="5A6378"/>
                </a:solidFill>
                <a:latin typeface="Calibri" pitchFamily="34" charset="0"/>
                <a:ea typeface="Calibri" pitchFamily="34" charset="-122"/>
                <a:cs typeface="Calibri" pitchFamily="34" charset="-120"/>
              </a:rPr>
              <a:t>regex / shlex</a:t>
            </a:r>
            <a:endParaRPr lang="en-US" sz="1400" dirty="0"/>
          </a:p>
        </p:txBody>
      </p:sp>
      <p:sp>
        <p:nvSpPr>
          <p:cNvPr id="10" name="Text 8"/>
          <p:cNvSpPr/>
          <p:nvPr/>
        </p:nvSpPr>
        <p:spPr>
          <a:xfrm>
            <a:off x="2587752" y="2944368"/>
            <a:ext cx="228600" cy="329184"/>
          </a:xfrm>
          <a:prstGeom prst="rect">
            <a:avLst/>
          </a:prstGeom>
          <a:noFill/>
          <a:ln/>
        </p:spPr>
        <p:txBody>
          <a:bodyPr wrap="square" lIns="0" tIns="0" rIns="0" bIns="0" rtlCol="0" anchor="ctr"/>
          <a:lstStyle/>
          <a:p>
            <a:pPr algn="ctr" indent="0" marL="0">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2788920" y="2377440"/>
            <a:ext cx="2148840" cy="1463040"/>
          </a:xfrm>
          <a:prstGeom prst="roundRect">
            <a:avLst>
              <a:gd name="adj" fmla="val 6250"/>
            </a:avLst>
          </a:prstGeom>
          <a:solidFill>
            <a:srgbClr val="FFFFFF"/>
          </a:solidFill>
          <a:ln w="25400">
            <a:solidFill>
              <a:srgbClr val="1E2761"/>
            </a:solidFill>
            <a:prstDash val="solid"/>
          </a:ln>
        </p:spPr>
      </p:sp>
      <p:sp>
        <p:nvSpPr>
          <p:cNvPr id="12" name="Text 10"/>
          <p:cNvSpPr/>
          <p:nvPr/>
        </p:nvSpPr>
        <p:spPr>
          <a:xfrm>
            <a:off x="2788920" y="2514600"/>
            <a:ext cx="2148840" cy="502920"/>
          </a:xfrm>
          <a:prstGeom prst="rect">
            <a:avLst/>
          </a:prstGeom>
          <a:noFill/>
          <a:ln/>
        </p:spPr>
        <p:txBody>
          <a:bodyPr wrap="square" rtlCol="0" anchor="ctr"/>
          <a:lstStyle/>
          <a:p>
            <a:pPr algn="ctr" indent="0" marL="0">
              <a:buNone/>
            </a:pPr>
            <a:r>
              <a:rPr lang="en-US" sz="2000" b="1" dirty="0">
                <a:solidFill>
                  <a:srgbClr val="1E2761"/>
                </a:solidFill>
                <a:latin typeface="Georgia" pitchFamily="34" charset="0"/>
                <a:ea typeface="Georgia" pitchFamily="34" charset="-122"/>
                <a:cs typeface="Georgia" pitchFamily="34" charset="-120"/>
              </a:rPr>
              <a:t>Analyzer</a:t>
            </a:r>
            <a:endParaRPr lang="en-US" sz="2000" dirty="0"/>
          </a:p>
        </p:txBody>
      </p:sp>
      <p:sp>
        <p:nvSpPr>
          <p:cNvPr id="13" name="Text 11"/>
          <p:cNvSpPr/>
          <p:nvPr/>
        </p:nvSpPr>
        <p:spPr>
          <a:xfrm>
            <a:off x="2880360" y="3063240"/>
            <a:ext cx="1965960" cy="640080"/>
          </a:xfrm>
          <a:prstGeom prst="rect">
            <a:avLst/>
          </a:prstGeom>
          <a:noFill/>
          <a:ln/>
        </p:spPr>
        <p:txBody>
          <a:bodyPr wrap="square" rtlCol="0" anchor="ctr"/>
          <a:lstStyle/>
          <a:p>
            <a:pPr algn="ctr" indent="0" marL="0">
              <a:buNone/>
            </a:pPr>
            <a:r>
              <a:rPr lang="en-US" sz="1400" i="1" dirty="0">
                <a:solidFill>
                  <a:srgbClr val="5A6378"/>
                </a:solidFill>
                <a:latin typeface="Calibri" pitchFamily="34" charset="0"/>
                <a:ea typeface="Calibri" pitchFamily="34" charset="-122"/>
                <a:cs typeface="Calibri" pitchFamily="34" charset="-120"/>
              </a:rPr>
              <a:t>Al-Shaer pairwise · O(n²)</a:t>
            </a:r>
            <a:endParaRPr lang="en-US" sz="1400" dirty="0"/>
          </a:p>
        </p:txBody>
      </p:sp>
      <p:sp>
        <p:nvSpPr>
          <p:cNvPr id="14" name="Text 12"/>
          <p:cNvSpPr/>
          <p:nvPr/>
        </p:nvSpPr>
        <p:spPr>
          <a:xfrm>
            <a:off x="4919472" y="2944368"/>
            <a:ext cx="228600" cy="329184"/>
          </a:xfrm>
          <a:prstGeom prst="rect">
            <a:avLst/>
          </a:prstGeom>
          <a:noFill/>
          <a:ln/>
        </p:spPr>
        <p:txBody>
          <a:bodyPr wrap="square" lIns="0" tIns="0" rIns="0" bIns="0" rtlCol="0" anchor="ctr"/>
          <a:lstStyle/>
          <a:p>
            <a:pPr algn="ctr" indent="0" marL="0">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5120640" y="2377440"/>
            <a:ext cx="2148840" cy="1463040"/>
          </a:xfrm>
          <a:prstGeom prst="roundRect">
            <a:avLst>
              <a:gd name="adj" fmla="val 6250"/>
            </a:avLst>
          </a:prstGeom>
          <a:solidFill>
            <a:srgbClr val="FFFFFF"/>
          </a:solidFill>
          <a:ln w="38100">
            <a:solidFill>
              <a:srgbClr val="F96167"/>
            </a:solidFill>
            <a:prstDash val="solid"/>
          </a:ln>
        </p:spPr>
      </p:sp>
      <p:sp>
        <p:nvSpPr>
          <p:cNvPr id="16" name="Text 14"/>
          <p:cNvSpPr/>
          <p:nvPr/>
        </p:nvSpPr>
        <p:spPr>
          <a:xfrm>
            <a:off x="5120640" y="2514600"/>
            <a:ext cx="2148840" cy="502920"/>
          </a:xfrm>
          <a:prstGeom prst="rect">
            <a:avLst/>
          </a:prstGeom>
          <a:noFill/>
          <a:ln/>
        </p:spPr>
        <p:txBody>
          <a:bodyPr wrap="square" rtlCol="0" anchor="ctr"/>
          <a:lstStyle/>
          <a:p>
            <a:pPr algn="ctr" indent="0" marL="0">
              <a:buNone/>
            </a:pPr>
            <a:r>
              <a:rPr lang="en-US" sz="2000" b="1" dirty="0">
                <a:solidFill>
                  <a:srgbClr val="F96167"/>
                </a:solidFill>
                <a:latin typeface="Georgia" pitchFamily="34" charset="0"/>
                <a:ea typeface="Georgia" pitchFamily="34" charset="-122"/>
                <a:cs typeface="Georgia" pitchFamily="34" charset="-120"/>
              </a:rPr>
              <a:t>Enricher</a:t>
            </a:r>
            <a:endParaRPr lang="en-US" sz="2000" dirty="0"/>
          </a:p>
        </p:txBody>
      </p:sp>
      <p:sp>
        <p:nvSpPr>
          <p:cNvPr id="17" name="Text 15"/>
          <p:cNvSpPr/>
          <p:nvPr/>
        </p:nvSpPr>
        <p:spPr>
          <a:xfrm>
            <a:off x="5212080" y="3063240"/>
            <a:ext cx="1965960" cy="640080"/>
          </a:xfrm>
          <a:prstGeom prst="rect">
            <a:avLst/>
          </a:prstGeom>
          <a:noFill/>
          <a:ln/>
        </p:spPr>
        <p:txBody>
          <a:bodyPr wrap="square" rtlCol="0" anchor="ctr"/>
          <a:lstStyle/>
          <a:p>
            <a:pPr algn="ctr" indent="0" marL="0">
              <a:buNone/>
            </a:pPr>
            <a:r>
              <a:rPr lang="en-US" sz="1400" i="1" dirty="0">
                <a:solidFill>
                  <a:srgbClr val="5A6378"/>
                </a:solidFill>
                <a:latin typeface="Calibri" pitchFamily="34" charset="0"/>
                <a:ea typeface="Calibri" pitchFamily="34" charset="-122"/>
                <a:cs typeface="Calibri" pitchFamily="34" charset="-120"/>
              </a:rPr>
              <a:t>constrained JSON</a:t>
            </a:r>
            <a:endParaRPr lang="en-US" sz="1400" dirty="0"/>
          </a:p>
        </p:txBody>
      </p:sp>
      <p:sp>
        <p:nvSpPr>
          <p:cNvPr id="18" name="Text 16"/>
          <p:cNvSpPr/>
          <p:nvPr/>
        </p:nvSpPr>
        <p:spPr>
          <a:xfrm>
            <a:off x="7251192" y="2944368"/>
            <a:ext cx="228600" cy="329184"/>
          </a:xfrm>
          <a:prstGeom prst="rect">
            <a:avLst/>
          </a:prstGeom>
          <a:noFill/>
          <a:ln/>
        </p:spPr>
        <p:txBody>
          <a:bodyPr wrap="square" lIns="0" tIns="0" rIns="0" bIns="0" rtlCol="0" anchor="ctr"/>
          <a:lstStyle/>
          <a:p>
            <a:pPr algn="ctr" indent="0" marL="0">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7452360" y="2377440"/>
            <a:ext cx="2148840" cy="1463040"/>
          </a:xfrm>
          <a:prstGeom prst="roundRect">
            <a:avLst>
              <a:gd name="adj" fmla="val 6250"/>
            </a:avLst>
          </a:prstGeom>
          <a:solidFill>
            <a:srgbClr val="FFFFFF"/>
          </a:solidFill>
          <a:ln w="25400">
            <a:solidFill>
              <a:srgbClr val="1E2761"/>
            </a:solidFill>
            <a:prstDash val="solid"/>
          </a:ln>
        </p:spPr>
      </p:sp>
      <p:sp>
        <p:nvSpPr>
          <p:cNvPr id="20" name="Text 18"/>
          <p:cNvSpPr/>
          <p:nvPr/>
        </p:nvSpPr>
        <p:spPr>
          <a:xfrm>
            <a:off x="7452360" y="2514600"/>
            <a:ext cx="2148840" cy="502920"/>
          </a:xfrm>
          <a:prstGeom prst="rect">
            <a:avLst/>
          </a:prstGeom>
          <a:noFill/>
          <a:ln/>
        </p:spPr>
        <p:txBody>
          <a:bodyPr wrap="square" rtlCol="0" anchor="ctr"/>
          <a:lstStyle/>
          <a:p>
            <a:pPr algn="ctr" indent="0" marL="0">
              <a:buNone/>
            </a:pPr>
            <a:r>
              <a:rPr lang="en-US" sz="2000" b="1" dirty="0">
                <a:solidFill>
                  <a:srgbClr val="1E2761"/>
                </a:solidFill>
                <a:latin typeface="Georgia" pitchFamily="34" charset="0"/>
                <a:ea typeface="Georgia" pitchFamily="34" charset="-122"/>
                <a:cs typeface="Georgia" pitchFamily="34" charset="-120"/>
              </a:rPr>
              <a:t>Evasion</a:t>
            </a:r>
            <a:endParaRPr lang="en-US" sz="2000" dirty="0"/>
          </a:p>
        </p:txBody>
      </p:sp>
      <p:sp>
        <p:nvSpPr>
          <p:cNvPr id="21" name="Text 19"/>
          <p:cNvSpPr/>
          <p:nvPr/>
        </p:nvSpPr>
        <p:spPr>
          <a:xfrm>
            <a:off x="7543800" y="3063240"/>
            <a:ext cx="1965960" cy="640080"/>
          </a:xfrm>
          <a:prstGeom prst="rect">
            <a:avLst/>
          </a:prstGeom>
          <a:noFill/>
          <a:ln/>
        </p:spPr>
        <p:txBody>
          <a:bodyPr wrap="square" rtlCol="0" anchor="ctr"/>
          <a:lstStyle/>
          <a:p>
            <a:pPr algn="ctr" indent="0" marL="0">
              <a:buNone/>
            </a:pPr>
            <a:r>
              <a:rPr lang="en-US" sz="1400" i="1" dirty="0">
                <a:solidFill>
                  <a:srgbClr val="5A6378"/>
                </a:solidFill>
                <a:latin typeface="Calibri" pitchFamily="34" charset="0"/>
                <a:ea typeface="Calibri" pitchFamily="34" charset="-122"/>
                <a:cs typeface="Calibri" pitchFamily="34" charset="-120"/>
              </a:rPr>
              <a:t>MITRE ATT&amp;CK map</a:t>
            </a:r>
            <a:endParaRPr lang="en-US" sz="1400" dirty="0"/>
          </a:p>
        </p:txBody>
      </p:sp>
      <p:sp>
        <p:nvSpPr>
          <p:cNvPr id="22" name="Text 20"/>
          <p:cNvSpPr/>
          <p:nvPr/>
        </p:nvSpPr>
        <p:spPr>
          <a:xfrm>
            <a:off x="9582912" y="2944368"/>
            <a:ext cx="228600" cy="329184"/>
          </a:xfrm>
          <a:prstGeom prst="rect">
            <a:avLst/>
          </a:prstGeom>
          <a:noFill/>
          <a:ln/>
        </p:spPr>
        <p:txBody>
          <a:bodyPr wrap="square" lIns="0" tIns="0" rIns="0" bIns="0" rtlCol="0" anchor="ctr"/>
          <a:lstStyle/>
          <a:p>
            <a:pPr algn="ctr" indent="0" marL="0">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9784080" y="2377440"/>
            <a:ext cx="2148840" cy="1463040"/>
          </a:xfrm>
          <a:prstGeom prst="roundRect">
            <a:avLst>
              <a:gd name="adj" fmla="val 6250"/>
            </a:avLst>
          </a:prstGeom>
          <a:solidFill>
            <a:srgbClr val="FFFFFF"/>
          </a:solidFill>
          <a:ln w="25400">
            <a:solidFill>
              <a:srgbClr val="1E2761"/>
            </a:solidFill>
            <a:prstDash val="solid"/>
          </a:ln>
        </p:spPr>
      </p:sp>
      <p:sp>
        <p:nvSpPr>
          <p:cNvPr id="24" name="Text 22"/>
          <p:cNvSpPr/>
          <p:nvPr/>
        </p:nvSpPr>
        <p:spPr>
          <a:xfrm>
            <a:off x="9784080" y="2514600"/>
            <a:ext cx="2148840" cy="502920"/>
          </a:xfrm>
          <a:prstGeom prst="rect">
            <a:avLst/>
          </a:prstGeom>
          <a:noFill/>
          <a:ln/>
        </p:spPr>
        <p:txBody>
          <a:bodyPr wrap="square" rtlCol="0" anchor="ctr"/>
          <a:lstStyle/>
          <a:p>
            <a:pPr algn="ctr" indent="0" marL="0">
              <a:buNone/>
            </a:pPr>
            <a:r>
              <a:rPr lang="en-US" sz="2000" b="1" dirty="0">
                <a:solidFill>
                  <a:srgbClr val="1E2761"/>
                </a:solidFill>
                <a:latin typeface="Georgia" pitchFamily="34" charset="0"/>
                <a:ea typeface="Georgia" pitchFamily="34" charset="-122"/>
                <a:cs typeface="Georgia" pitchFamily="34" charset="-120"/>
              </a:rPr>
              <a:t>CLI</a:t>
            </a:r>
            <a:endParaRPr lang="en-US" sz="2000" dirty="0"/>
          </a:p>
        </p:txBody>
      </p:sp>
      <p:sp>
        <p:nvSpPr>
          <p:cNvPr id="25" name="Text 23"/>
          <p:cNvSpPr/>
          <p:nvPr/>
        </p:nvSpPr>
        <p:spPr>
          <a:xfrm>
            <a:off x="9875520" y="3063240"/>
            <a:ext cx="1965960" cy="640080"/>
          </a:xfrm>
          <a:prstGeom prst="rect">
            <a:avLst/>
          </a:prstGeom>
          <a:noFill/>
          <a:ln/>
        </p:spPr>
        <p:txBody>
          <a:bodyPr wrap="square" rtlCol="0" anchor="ctr"/>
          <a:lstStyle/>
          <a:p>
            <a:pPr algn="ctr" indent="0" marL="0">
              <a:buNone/>
            </a:pPr>
            <a:r>
              <a:rPr lang="en-US" sz="1400" i="1" dirty="0">
                <a:solidFill>
                  <a:srgbClr val="5A6378"/>
                </a:solidFill>
                <a:latin typeface="Calibri" pitchFamily="34" charset="0"/>
                <a:ea typeface="Calibri" pitchFamily="34" charset="-122"/>
                <a:cs typeface="Calibri" pitchFamily="34" charset="-120"/>
              </a:rPr>
              <a:t>typer + rich</a:t>
            </a:r>
            <a:endParaRPr lang="en-US" sz="1400" dirty="0"/>
          </a:p>
        </p:txBody>
      </p:sp>
      <p:sp>
        <p:nvSpPr>
          <p:cNvPr id="26" name="Shape 24"/>
          <p:cNvSpPr/>
          <p:nvPr/>
        </p:nvSpPr>
        <p:spPr>
          <a:xfrm>
            <a:off x="6195060" y="3840480"/>
            <a:ext cx="0" cy="411480"/>
          </a:xfrm>
          <a:prstGeom prst="line">
            <a:avLst/>
          </a:prstGeom>
          <a:noFill/>
          <a:ln w="25400">
            <a:solidFill>
              <a:srgbClr val="F96167"/>
            </a:solidFill>
            <a:prstDash val="dash"/>
          </a:ln>
        </p:spPr>
      </p:sp>
      <p:sp>
        <p:nvSpPr>
          <p:cNvPr id="27" name="Shape 25"/>
          <p:cNvSpPr/>
          <p:nvPr/>
        </p:nvSpPr>
        <p:spPr>
          <a:xfrm>
            <a:off x="4480560" y="4297680"/>
            <a:ext cx="3429000" cy="822960"/>
          </a:xfrm>
          <a:prstGeom prst="roundRect">
            <a:avLst>
              <a:gd name="adj" fmla="val 8889"/>
            </a:avLst>
          </a:prstGeom>
          <a:solidFill>
            <a:srgbClr val="CADCFC"/>
          </a:solidFill>
          <a:ln w="12700">
            <a:solidFill>
              <a:srgbClr val="F96167"/>
            </a:solidFill>
            <a:prstDash val="solid"/>
          </a:ln>
        </p:spPr>
      </p:sp>
      <p:sp>
        <p:nvSpPr>
          <p:cNvPr id="28" name="Text 26"/>
          <p:cNvSpPr/>
          <p:nvPr/>
        </p:nvSpPr>
        <p:spPr>
          <a:xfrm>
            <a:off x="4480560" y="4343400"/>
            <a:ext cx="3429000" cy="274320"/>
          </a:xfrm>
          <a:prstGeom prst="rect">
            <a:avLst/>
          </a:prstGeom>
          <a:noFill/>
          <a:ln/>
        </p:spPr>
        <p:txBody>
          <a:bodyPr wrap="square" rtlCol="0" anchor="ctr"/>
          <a:lstStyle/>
          <a:p>
            <a:pPr algn="ctr" indent="0" marL="0">
              <a:buNone/>
            </a:pPr>
            <a:r>
              <a:rPr lang="en-US" sz="1400" i="1" dirty="0">
                <a:solidFill>
                  <a:srgbClr val="F96167"/>
                </a:solidFill>
                <a:latin typeface="Calibri" pitchFamily="34" charset="0"/>
                <a:ea typeface="Calibri" pitchFamily="34" charset="-122"/>
                <a:cs typeface="Calibri" pitchFamily="34" charset="-120"/>
              </a:rPr>
              <a:t>pluggable backend</a:t>
            </a:r>
            <a:endParaRPr lang="en-US" sz="1400" dirty="0"/>
          </a:p>
        </p:txBody>
      </p:sp>
      <p:sp>
        <p:nvSpPr>
          <p:cNvPr id="29" name="Text 27"/>
          <p:cNvSpPr/>
          <p:nvPr/>
        </p:nvSpPr>
        <p:spPr>
          <a:xfrm>
            <a:off x="4480560" y="4617720"/>
            <a:ext cx="3429000" cy="45720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Ollama (offline-first)   ⇄   Anthropic</a:t>
            </a:r>
            <a:endParaRPr lang="en-US" sz="1600" dirty="0"/>
          </a:p>
        </p:txBody>
      </p:sp>
      <p:sp>
        <p:nvSpPr>
          <p:cNvPr id="30" name="Text 28"/>
          <p:cNvSpPr/>
          <p:nvPr/>
        </p:nvSpPr>
        <p:spPr>
          <a:xfrm>
            <a:off x="457200" y="5760720"/>
            <a:ext cx="11247120" cy="411480"/>
          </a:xfrm>
          <a:prstGeom prst="rect">
            <a:avLst/>
          </a:prstGeom>
          <a:noFill/>
          <a:ln/>
        </p:spPr>
        <p:txBody>
          <a:bodyPr wrap="square" rtlCol="0" anchor="ctr"/>
          <a:lstStyle/>
          <a:p>
            <a:pPr algn="ctr" indent="0" marL="0">
              <a:buNone/>
            </a:pPr>
            <a:r>
              <a:rPr lang="en-US" sz="1600" i="1" dirty="0">
                <a:solidFill>
                  <a:srgbClr val="5A6378"/>
                </a:solidFill>
                <a:latin typeface="Calibri" pitchFamily="34" charset="0"/>
                <a:ea typeface="Calibri" pitchFamily="34" charset="-122"/>
                <a:cs typeface="Calibri" pitchFamily="34" charset="-120"/>
              </a:rPr>
              <a:t>Discovery never sees the LLM. The LLM never sees a rule index it didn't already get.</a:t>
            </a:r>
            <a:endParaRPr lang="en-US" sz="1600" dirty="0"/>
          </a:p>
        </p:txBody>
      </p:sp>
      <p:sp>
        <p:nvSpPr>
          <p:cNvPr id="31" name="Text 29"/>
          <p:cNvSpPr/>
          <p:nvPr/>
        </p:nvSpPr>
        <p:spPr>
          <a:xfrm>
            <a:off x="457200" y="6446520"/>
            <a:ext cx="3657600" cy="274320"/>
          </a:xfrm>
          <a:prstGeom prst="rect">
            <a:avLst/>
          </a:prstGeom>
          <a:noFill/>
          <a:ln/>
        </p:spPr>
        <p:txBody>
          <a:bodyPr wrap="square" rtlCol="0" anchor="ctr"/>
          <a:lstStyle/>
          <a:p>
            <a:pPr indent="0" marL="0">
              <a:buNone/>
            </a:pPr>
            <a:r>
              <a:rPr lang="en-US" sz="1000" i="1" dirty="0">
                <a:solidFill>
                  <a:srgbClr val="5A6378"/>
                </a:solidFill>
                <a:latin typeface="Calibri" pitchFamily="34" charset="0"/>
                <a:ea typeface="Calibri" pitchFamily="34" charset="-122"/>
                <a:cs typeface="Calibri" pitchFamily="34" charset="-120"/>
              </a:rPr>
              <a:t>shaerlock · ENPM693</a:t>
            </a:r>
            <a:endParaRPr lang="en-US" sz="1000" dirty="0"/>
          </a:p>
        </p:txBody>
      </p:sp>
      <p:sp>
        <p:nvSpPr>
          <p:cNvPr id="32" name="Text 30"/>
          <p:cNvSpPr/>
          <p:nvPr/>
        </p:nvSpPr>
        <p:spPr>
          <a:xfrm>
            <a:off x="11274552" y="6446520"/>
            <a:ext cx="73152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4 / 11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B"/>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2761"/>
          </a:solidFill>
          <a:ln/>
        </p:spPr>
      </p:sp>
      <p:sp>
        <p:nvSpPr>
          <p:cNvPr id="3" name="Shape 1"/>
          <p:cNvSpPr/>
          <p:nvPr/>
        </p:nvSpPr>
        <p:spPr>
          <a:xfrm>
            <a:off x="457200" y="411480"/>
            <a:ext cx="320040" cy="320040"/>
          </a:xfrm>
          <a:prstGeom prst="ellipse">
            <a:avLst/>
          </a:prstGeom>
          <a:solidFill>
            <a:srgbClr val="1E2761"/>
          </a:solidFill>
          <a:ln w="12700">
            <a:solidFill>
              <a:srgbClr val="1E2761"/>
            </a:solidFill>
            <a:prstDash val="solid"/>
          </a:ln>
        </p:spPr>
      </p:sp>
      <p:sp>
        <p:nvSpPr>
          <p:cNvPr id="4" name="Text 2"/>
          <p:cNvSpPr/>
          <p:nvPr/>
        </p:nvSpPr>
        <p:spPr>
          <a:xfrm>
            <a:off x="457200" y="411480"/>
            <a:ext cx="320040" cy="32004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5" name="Text 3"/>
          <p:cNvSpPr/>
          <p:nvPr/>
        </p:nvSpPr>
        <p:spPr>
          <a:xfrm>
            <a:off x="868680" y="384048"/>
            <a:ext cx="7315200" cy="365760"/>
          </a:xfrm>
          <a:prstGeom prst="rect">
            <a:avLst/>
          </a:prstGeom>
          <a:noFill/>
          <a:ln/>
        </p:spPr>
        <p:txBody>
          <a:bodyPr wrap="square" rtlCol="0" anchor="ctr"/>
          <a:lstStyle/>
          <a:p>
            <a:pPr indent="0" marL="0">
              <a:buNone/>
            </a:pPr>
            <a:r>
              <a:rPr lang="en-US" sz="1400" b="1" spc="200" kern="0" dirty="0">
                <a:solidFill>
                  <a:srgbClr val="5A6378"/>
                </a:solidFill>
                <a:latin typeface="Calibri" pitchFamily="34" charset="0"/>
                <a:ea typeface="Calibri" pitchFamily="34" charset="-122"/>
                <a:cs typeface="Calibri" pitchFamily="34" charset="-120"/>
              </a:rPr>
              <a:t>TAXONOMY</a:t>
            </a:r>
            <a:endParaRPr lang="en-US" sz="1400" dirty="0"/>
          </a:p>
        </p:txBody>
      </p:sp>
      <p:sp>
        <p:nvSpPr>
          <p:cNvPr id="6" name="Text 4"/>
          <p:cNvSpPr/>
          <p:nvPr/>
        </p:nvSpPr>
        <p:spPr>
          <a:xfrm>
            <a:off x="457200" y="777240"/>
            <a:ext cx="11274552" cy="960120"/>
          </a:xfrm>
          <a:prstGeom prst="rect">
            <a:avLst/>
          </a:prstGeom>
          <a:noFill/>
          <a:ln/>
        </p:spPr>
        <p:txBody>
          <a:bodyPr wrap="square" rtlCol="0" anchor="ctr"/>
          <a:lstStyle/>
          <a:p>
            <a:pPr indent="0" marL="0">
              <a:buNone/>
            </a:pPr>
            <a:r>
              <a:rPr lang="en-US" sz="3200" b="1" dirty="0">
                <a:solidFill>
                  <a:srgbClr val="1E2761"/>
                </a:solidFill>
                <a:latin typeface="Georgia" pitchFamily="34" charset="0"/>
                <a:ea typeface="Georgia" pitchFamily="34" charset="-122"/>
                <a:cs typeface="Georgia" pitchFamily="34" charset="-120"/>
              </a:rPr>
              <a:t>Four set-theoretic classes cover all pairwise rule conflicts.</a:t>
            </a:r>
            <a:endParaRPr lang="en-US" sz="3200" dirty="0"/>
          </a:p>
        </p:txBody>
      </p:sp>
      <p:sp>
        <p:nvSpPr>
          <p:cNvPr id="7" name="Shape 5"/>
          <p:cNvSpPr/>
          <p:nvPr/>
        </p:nvSpPr>
        <p:spPr>
          <a:xfrm>
            <a:off x="457200" y="1828800"/>
            <a:ext cx="5349240" cy="2103120"/>
          </a:xfrm>
          <a:prstGeom prst="roundRect">
            <a:avLst>
              <a:gd name="adj" fmla="val 4348"/>
            </a:avLst>
          </a:prstGeom>
          <a:solidFill>
            <a:srgbClr val="FFFFFF"/>
          </a:solidFill>
          <a:ln w="12700">
            <a:solidFill>
              <a:srgbClr val="E2E5EE"/>
            </a:solidFill>
            <a:prstDash val="solid"/>
          </a:ln>
        </p:spPr>
      </p:sp>
      <p:sp>
        <p:nvSpPr>
          <p:cNvPr id="8" name="Shape 6"/>
          <p:cNvSpPr/>
          <p:nvPr/>
        </p:nvSpPr>
        <p:spPr>
          <a:xfrm>
            <a:off x="457200" y="1828800"/>
            <a:ext cx="109728" cy="2103120"/>
          </a:xfrm>
          <a:prstGeom prst="rect">
            <a:avLst/>
          </a:prstGeom>
          <a:solidFill>
            <a:srgbClr val="F96167"/>
          </a:solidFill>
          <a:ln w="12700">
            <a:solidFill>
              <a:srgbClr val="F96167"/>
            </a:solidFill>
            <a:prstDash val="solid"/>
          </a:ln>
        </p:spPr>
      </p:sp>
      <p:sp>
        <p:nvSpPr>
          <p:cNvPr id="9" name="Text 7"/>
          <p:cNvSpPr/>
          <p:nvPr/>
        </p:nvSpPr>
        <p:spPr>
          <a:xfrm>
            <a:off x="731520" y="1965960"/>
            <a:ext cx="4892040" cy="457200"/>
          </a:xfrm>
          <a:prstGeom prst="rect">
            <a:avLst/>
          </a:prstGeom>
          <a:noFill/>
          <a:ln/>
        </p:spPr>
        <p:txBody>
          <a:bodyPr wrap="square" rtlCol="0" anchor="ctr"/>
          <a:lstStyle/>
          <a:p>
            <a:pPr indent="0" marL="0">
              <a:buNone/>
            </a:pPr>
            <a:r>
              <a:rPr lang="en-US" sz="2200" b="1" spc="100" kern="0" dirty="0">
                <a:solidFill>
                  <a:srgbClr val="F96167"/>
                </a:solidFill>
                <a:latin typeface="Georgia" pitchFamily="34" charset="0"/>
                <a:ea typeface="Georgia" pitchFamily="34" charset="-122"/>
                <a:cs typeface="Georgia" pitchFamily="34" charset="-120"/>
              </a:rPr>
              <a:t>SHADOWING</a:t>
            </a:r>
            <a:endParaRPr lang="en-US" sz="2200" dirty="0"/>
          </a:p>
        </p:txBody>
      </p:sp>
      <p:sp>
        <p:nvSpPr>
          <p:cNvPr id="10" name="Text 8"/>
          <p:cNvSpPr/>
          <p:nvPr/>
        </p:nvSpPr>
        <p:spPr>
          <a:xfrm>
            <a:off x="731520" y="2468880"/>
            <a:ext cx="4892040" cy="457200"/>
          </a:xfrm>
          <a:prstGeom prst="rect">
            <a:avLst/>
          </a:prstGeom>
          <a:noFill/>
          <a:ln/>
        </p:spPr>
        <p:txBody>
          <a:bodyPr wrap="square" rtlCol="0" anchor="ctr"/>
          <a:lstStyle/>
          <a:p>
            <a:pPr indent="0" marL="0">
              <a:buNone/>
            </a:pPr>
            <a:r>
              <a:rPr lang="en-US" sz="1600" b="1" dirty="0">
                <a:solidFill>
                  <a:srgbClr val="1E2761"/>
                </a:solidFill>
                <a:latin typeface="Courier New" pitchFamily="34" charset="0"/>
                <a:ea typeface="Courier New" pitchFamily="34" charset="-122"/>
                <a:cs typeface="Courier New" pitchFamily="34" charset="-120"/>
              </a:rPr>
              <a:t>M_j ⊆ M_i  ∧  A_i ≠ A_j</a:t>
            </a:r>
            <a:endParaRPr lang="en-US" sz="1600" dirty="0"/>
          </a:p>
        </p:txBody>
      </p:sp>
      <p:sp>
        <p:nvSpPr>
          <p:cNvPr id="11" name="Text 9"/>
          <p:cNvSpPr/>
          <p:nvPr/>
        </p:nvSpPr>
        <p:spPr>
          <a:xfrm>
            <a:off x="731520" y="3017520"/>
            <a:ext cx="4892040" cy="777240"/>
          </a:xfrm>
          <a:prstGeom prst="rect">
            <a:avLst/>
          </a:prstGeom>
          <a:noFill/>
          <a:ln/>
        </p:spPr>
        <p:txBody>
          <a:bodyPr wrap="square" rtlCol="0" anchor="ctr"/>
          <a:lstStyle/>
          <a:p>
            <a:pPr indent="0" marL="0">
              <a:buNone/>
            </a:pPr>
            <a:r>
              <a:rPr lang="en-US" sz="1600" i="1" dirty="0">
                <a:solidFill>
                  <a:srgbClr val="5A6378"/>
                </a:solidFill>
                <a:latin typeface="Calibri" pitchFamily="34" charset="0"/>
                <a:ea typeface="Calibri" pitchFamily="34" charset="-122"/>
                <a:cs typeface="Calibri" pitchFamily="34" charset="-120"/>
              </a:rPr>
              <a:t>Rule j never fires; security boundary disappears silently.</a:t>
            </a:r>
            <a:endParaRPr lang="en-US" sz="1600" dirty="0"/>
          </a:p>
        </p:txBody>
      </p:sp>
      <p:sp>
        <p:nvSpPr>
          <p:cNvPr id="12" name="Shape 10"/>
          <p:cNvSpPr/>
          <p:nvPr/>
        </p:nvSpPr>
        <p:spPr>
          <a:xfrm>
            <a:off x="6355080" y="1828800"/>
            <a:ext cx="5349240" cy="2103120"/>
          </a:xfrm>
          <a:prstGeom prst="roundRect">
            <a:avLst>
              <a:gd name="adj" fmla="val 4348"/>
            </a:avLst>
          </a:prstGeom>
          <a:solidFill>
            <a:srgbClr val="FFFFFF"/>
          </a:solidFill>
          <a:ln w="12700">
            <a:solidFill>
              <a:srgbClr val="E2E5EE"/>
            </a:solidFill>
            <a:prstDash val="solid"/>
          </a:ln>
        </p:spPr>
      </p:sp>
      <p:sp>
        <p:nvSpPr>
          <p:cNvPr id="13" name="Shape 11"/>
          <p:cNvSpPr/>
          <p:nvPr/>
        </p:nvSpPr>
        <p:spPr>
          <a:xfrm>
            <a:off x="6355080" y="1828800"/>
            <a:ext cx="109728" cy="2103120"/>
          </a:xfrm>
          <a:prstGeom prst="rect">
            <a:avLst/>
          </a:prstGeom>
          <a:solidFill>
            <a:srgbClr val="1E2761"/>
          </a:solidFill>
          <a:ln w="12700">
            <a:solidFill>
              <a:srgbClr val="1E2761"/>
            </a:solidFill>
            <a:prstDash val="solid"/>
          </a:ln>
        </p:spPr>
      </p:sp>
      <p:sp>
        <p:nvSpPr>
          <p:cNvPr id="14" name="Text 12"/>
          <p:cNvSpPr/>
          <p:nvPr/>
        </p:nvSpPr>
        <p:spPr>
          <a:xfrm>
            <a:off x="6629400" y="1965960"/>
            <a:ext cx="4892040" cy="457200"/>
          </a:xfrm>
          <a:prstGeom prst="rect">
            <a:avLst/>
          </a:prstGeom>
          <a:noFill/>
          <a:ln/>
        </p:spPr>
        <p:txBody>
          <a:bodyPr wrap="square" rtlCol="0" anchor="ctr"/>
          <a:lstStyle/>
          <a:p>
            <a:pPr indent="0" marL="0">
              <a:buNone/>
            </a:pPr>
            <a:r>
              <a:rPr lang="en-US" sz="2200" b="1" spc="100" kern="0" dirty="0">
                <a:solidFill>
                  <a:srgbClr val="1E2761"/>
                </a:solidFill>
                <a:latin typeface="Georgia" pitchFamily="34" charset="0"/>
                <a:ea typeface="Georgia" pitchFamily="34" charset="-122"/>
                <a:cs typeface="Georgia" pitchFamily="34" charset="-120"/>
              </a:rPr>
              <a:t>GENERALIZATION</a:t>
            </a:r>
            <a:endParaRPr lang="en-US" sz="2200" dirty="0"/>
          </a:p>
        </p:txBody>
      </p:sp>
      <p:sp>
        <p:nvSpPr>
          <p:cNvPr id="15" name="Text 13"/>
          <p:cNvSpPr/>
          <p:nvPr/>
        </p:nvSpPr>
        <p:spPr>
          <a:xfrm>
            <a:off x="6629400" y="2468880"/>
            <a:ext cx="4892040" cy="457200"/>
          </a:xfrm>
          <a:prstGeom prst="rect">
            <a:avLst/>
          </a:prstGeom>
          <a:noFill/>
          <a:ln/>
        </p:spPr>
        <p:txBody>
          <a:bodyPr wrap="square" rtlCol="0" anchor="ctr"/>
          <a:lstStyle/>
          <a:p>
            <a:pPr indent="0" marL="0">
              <a:buNone/>
            </a:pPr>
            <a:r>
              <a:rPr lang="en-US" sz="1600" b="1" dirty="0">
                <a:solidFill>
                  <a:srgbClr val="1E2761"/>
                </a:solidFill>
                <a:latin typeface="Courier New" pitchFamily="34" charset="0"/>
                <a:ea typeface="Courier New" pitchFamily="34" charset="-122"/>
                <a:cs typeface="Courier New" pitchFamily="34" charset="-120"/>
              </a:rPr>
              <a:t>M_i ⊂ M_j  ∧  A_i ≠ A_j</a:t>
            </a:r>
            <a:endParaRPr lang="en-US" sz="1600" dirty="0"/>
          </a:p>
        </p:txBody>
      </p:sp>
      <p:sp>
        <p:nvSpPr>
          <p:cNvPr id="16" name="Text 14"/>
          <p:cNvSpPr/>
          <p:nvPr/>
        </p:nvSpPr>
        <p:spPr>
          <a:xfrm>
            <a:off x="6629400" y="3017520"/>
            <a:ext cx="4892040" cy="777240"/>
          </a:xfrm>
          <a:prstGeom prst="rect">
            <a:avLst/>
          </a:prstGeom>
          <a:noFill/>
          <a:ln/>
        </p:spPr>
        <p:txBody>
          <a:bodyPr wrap="square" rtlCol="0" anchor="ctr"/>
          <a:lstStyle/>
          <a:p>
            <a:pPr indent="0" marL="0">
              <a:buNone/>
            </a:pPr>
            <a:r>
              <a:rPr lang="en-US" sz="1600" i="1" dirty="0">
                <a:solidFill>
                  <a:srgbClr val="5A6378"/>
                </a:solidFill>
                <a:latin typeface="Calibri" pitchFamily="34" charset="0"/>
                <a:ea typeface="Calibri" pitchFamily="34" charset="-122"/>
                <a:cs typeface="Calibri" pitchFamily="34" charset="-120"/>
              </a:rPr>
              <a:t>Wider rule contradicts a tighter earlier one.</a:t>
            </a:r>
            <a:endParaRPr lang="en-US" sz="1600" dirty="0"/>
          </a:p>
        </p:txBody>
      </p:sp>
      <p:sp>
        <p:nvSpPr>
          <p:cNvPr id="17" name="Shape 15"/>
          <p:cNvSpPr/>
          <p:nvPr/>
        </p:nvSpPr>
        <p:spPr>
          <a:xfrm>
            <a:off x="457200" y="4206240"/>
            <a:ext cx="5349240" cy="2103120"/>
          </a:xfrm>
          <a:prstGeom prst="roundRect">
            <a:avLst>
              <a:gd name="adj" fmla="val 4348"/>
            </a:avLst>
          </a:prstGeom>
          <a:solidFill>
            <a:srgbClr val="FFFFFF"/>
          </a:solidFill>
          <a:ln w="12700">
            <a:solidFill>
              <a:srgbClr val="E2E5EE"/>
            </a:solidFill>
            <a:prstDash val="solid"/>
          </a:ln>
        </p:spPr>
      </p:sp>
      <p:sp>
        <p:nvSpPr>
          <p:cNvPr id="18" name="Shape 16"/>
          <p:cNvSpPr/>
          <p:nvPr/>
        </p:nvSpPr>
        <p:spPr>
          <a:xfrm>
            <a:off x="457200" y="4206240"/>
            <a:ext cx="109728" cy="2103120"/>
          </a:xfrm>
          <a:prstGeom prst="rect">
            <a:avLst/>
          </a:prstGeom>
          <a:solidFill>
            <a:srgbClr val="1E2761"/>
          </a:solidFill>
          <a:ln w="12700">
            <a:solidFill>
              <a:srgbClr val="1E2761"/>
            </a:solidFill>
            <a:prstDash val="solid"/>
          </a:ln>
        </p:spPr>
      </p:sp>
      <p:sp>
        <p:nvSpPr>
          <p:cNvPr id="19" name="Text 17"/>
          <p:cNvSpPr/>
          <p:nvPr/>
        </p:nvSpPr>
        <p:spPr>
          <a:xfrm>
            <a:off x="731520" y="4343400"/>
            <a:ext cx="4892040" cy="457200"/>
          </a:xfrm>
          <a:prstGeom prst="rect">
            <a:avLst/>
          </a:prstGeom>
          <a:noFill/>
          <a:ln/>
        </p:spPr>
        <p:txBody>
          <a:bodyPr wrap="square" rtlCol="0" anchor="ctr"/>
          <a:lstStyle/>
          <a:p>
            <a:pPr indent="0" marL="0">
              <a:buNone/>
            </a:pPr>
            <a:r>
              <a:rPr lang="en-US" sz="2200" b="1" spc="100" kern="0" dirty="0">
                <a:solidFill>
                  <a:srgbClr val="1E2761"/>
                </a:solidFill>
                <a:latin typeface="Georgia" pitchFamily="34" charset="0"/>
                <a:ea typeface="Georgia" pitchFamily="34" charset="-122"/>
                <a:cs typeface="Georgia" pitchFamily="34" charset="-120"/>
              </a:rPr>
              <a:t>CORRELATION</a:t>
            </a:r>
            <a:endParaRPr lang="en-US" sz="2200" dirty="0"/>
          </a:p>
        </p:txBody>
      </p:sp>
      <p:sp>
        <p:nvSpPr>
          <p:cNvPr id="20" name="Text 18"/>
          <p:cNvSpPr/>
          <p:nvPr/>
        </p:nvSpPr>
        <p:spPr>
          <a:xfrm>
            <a:off x="731520" y="4846320"/>
            <a:ext cx="4892040" cy="457200"/>
          </a:xfrm>
          <a:prstGeom prst="rect">
            <a:avLst/>
          </a:prstGeom>
          <a:noFill/>
          <a:ln/>
        </p:spPr>
        <p:txBody>
          <a:bodyPr wrap="square" rtlCol="0" anchor="ctr"/>
          <a:lstStyle/>
          <a:p>
            <a:pPr indent="0" marL="0">
              <a:buNone/>
            </a:pPr>
            <a:r>
              <a:rPr lang="en-US" sz="1600" b="1" dirty="0">
                <a:solidFill>
                  <a:srgbClr val="1E2761"/>
                </a:solidFill>
                <a:latin typeface="Courier New" pitchFamily="34" charset="0"/>
                <a:ea typeface="Courier New" pitchFamily="34" charset="-122"/>
                <a:cs typeface="Courier New" pitchFamily="34" charset="-120"/>
              </a:rPr>
              <a:t>M_i ∩ M_j ≠ ∅  ∧  A_i ≠ A_j</a:t>
            </a:r>
            <a:endParaRPr lang="en-US" sz="1600" dirty="0"/>
          </a:p>
        </p:txBody>
      </p:sp>
      <p:sp>
        <p:nvSpPr>
          <p:cNvPr id="21" name="Text 19"/>
          <p:cNvSpPr/>
          <p:nvPr/>
        </p:nvSpPr>
        <p:spPr>
          <a:xfrm>
            <a:off x="731520" y="5394960"/>
            <a:ext cx="4892040" cy="777240"/>
          </a:xfrm>
          <a:prstGeom prst="rect">
            <a:avLst/>
          </a:prstGeom>
          <a:noFill/>
          <a:ln/>
        </p:spPr>
        <p:txBody>
          <a:bodyPr wrap="square" rtlCol="0" anchor="ctr"/>
          <a:lstStyle/>
          <a:p>
            <a:pPr indent="0" marL="0">
              <a:buNone/>
            </a:pPr>
            <a:r>
              <a:rPr lang="en-US" sz="1600" i="1" dirty="0">
                <a:solidFill>
                  <a:srgbClr val="5A6378"/>
                </a:solidFill>
                <a:latin typeface="Calibri" pitchFamily="34" charset="0"/>
                <a:ea typeface="Calibri" pitchFamily="34" charset="-122"/>
                <a:cs typeface="Calibri" pitchFamily="34" charset="-120"/>
              </a:rPr>
              <a:t>Order-dependent ambiguity — rewrite-attack surface.</a:t>
            </a:r>
            <a:endParaRPr lang="en-US" sz="1600" dirty="0"/>
          </a:p>
        </p:txBody>
      </p:sp>
      <p:sp>
        <p:nvSpPr>
          <p:cNvPr id="22" name="Shape 20"/>
          <p:cNvSpPr/>
          <p:nvPr/>
        </p:nvSpPr>
        <p:spPr>
          <a:xfrm>
            <a:off x="6355080" y="4206240"/>
            <a:ext cx="5349240" cy="2103120"/>
          </a:xfrm>
          <a:prstGeom prst="roundRect">
            <a:avLst>
              <a:gd name="adj" fmla="val 4348"/>
            </a:avLst>
          </a:prstGeom>
          <a:solidFill>
            <a:srgbClr val="FFFFFF"/>
          </a:solidFill>
          <a:ln w="12700">
            <a:solidFill>
              <a:srgbClr val="E2E5EE"/>
            </a:solidFill>
            <a:prstDash val="solid"/>
          </a:ln>
        </p:spPr>
      </p:sp>
      <p:sp>
        <p:nvSpPr>
          <p:cNvPr id="23" name="Shape 21"/>
          <p:cNvSpPr/>
          <p:nvPr/>
        </p:nvSpPr>
        <p:spPr>
          <a:xfrm>
            <a:off x="6355080" y="4206240"/>
            <a:ext cx="109728" cy="2103120"/>
          </a:xfrm>
          <a:prstGeom prst="rect">
            <a:avLst/>
          </a:prstGeom>
          <a:solidFill>
            <a:srgbClr val="1E2761"/>
          </a:solidFill>
          <a:ln w="12700">
            <a:solidFill>
              <a:srgbClr val="1E2761"/>
            </a:solidFill>
            <a:prstDash val="solid"/>
          </a:ln>
        </p:spPr>
      </p:sp>
      <p:sp>
        <p:nvSpPr>
          <p:cNvPr id="24" name="Text 22"/>
          <p:cNvSpPr/>
          <p:nvPr/>
        </p:nvSpPr>
        <p:spPr>
          <a:xfrm>
            <a:off x="6629400" y="4343400"/>
            <a:ext cx="4892040" cy="457200"/>
          </a:xfrm>
          <a:prstGeom prst="rect">
            <a:avLst/>
          </a:prstGeom>
          <a:noFill/>
          <a:ln/>
        </p:spPr>
        <p:txBody>
          <a:bodyPr wrap="square" rtlCol="0" anchor="ctr"/>
          <a:lstStyle/>
          <a:p>
            <a:pPr indent="0" marL="0">
              <a:buNone/>
            </a:pPr>
            <a:r>
              <a:rPr lang="en-US" sz="2200" b="1" spc="100" kern="0" dirty="0">
                <a:solidFill>
                  <a:srgbClr val="1E2761"/>
                </a:solidFill>
                <a:latin typeface="Georgia" pitchFamily="34" charset="0"/>
                <a:ea typeface="Georgia" pitchFamily="34" charset="-122"/>
                <a:cs typeface="Georgia" pitchFamily="34" charset="-120"/>
              </a:rPr>
              <a:t>REDUNDANCY</a:t>
            </a:r>
            <a:endParaRPr lang="en-US" sz="2200" dirty="0"/>
          </a:p>
        </p:txBody>
      </p:sp>
      <p:sp>
        <p:nvSpPr>
          <p:cNvPr id="25" name="Text 23"/>
          <p:cNvSpPr/>
          <p:nvPr/>
        </p:nvSpPr>
        <p:spPr>
          <a:xfrm>
            <a:off x="6629400" y="4846320"/>
            <a:ext cx="4892040" cy="457200"/>
          </a:xfrm>
          <a:prstGeom prst="rect">
            <a:avLst/>
          </a:prstGeom>
          <a:noFill/>
          <a:ln/>
        </p:spPr>
        <p:txBody>
          <a:bodyPr wrap="square" rtlCol="0" anchor="ctr"/>
          <a:lstStyle/>
          <a:p>
            <a:pPr indent="0" marL="0">
              <a:buNone/>
            </a:pPr>
            <a:r>
              <a:rPr lang="en-US" sz="1600" b="1" dirty="0">
                <a:solidFill>
                  <a:srgbClr val="1E2761"/>
                </a:solidFill>
                <a:latin typeface="Courier New" pitchFamily="34" charset="0"/>
                <a:ea typeface="Courier New" pitchFamily="34" charset="-122"/>
                <a:cs typeface="Courier New" pitchFamily="34" charset="-120"/>
              </a:rPr>
              <a:t>M_j ⊆ M_i  ∧  A_i = A_j</a:t>
            </a:r>
            <a:endParaRPr lang="en-US" sz="1600" dirty="0"/>
          </a:p>
        </p:txBody>
      </p:sp>
      <p:sp>
        <p:nvSpPr>
          <p:cNvPr id="26" name="Text 24"/>
          <p:cNvSpPr/>
          <p:nvPr/>
        </p:nvSpPr>
        <p:spPr>
          <a:xfrm>
            <a:off x="6629400" y="5394960"/>
            <a:ext cx="4892040" cy="777240"/>
          </a:xfrm>
          <a:prstGeom prst="rect">
            <a:avLst/>
          </a:prstGeom>
          <a:noFill/>
          <a:ln/>
        </p:spPr>
        <p:txBody>
          <a:bodyPr wrap="square" rtlCol="0" anchor="ctr"/>
          <a:lstStyle/>
          <a:p>
            <a:pPr indent="0" marL="0">
              <a:buNone/>
            </a:pPr>
            <a:r>
              <a:rPr lang="en-US" sz="1600" i="1" dirty="0">
                <a:solidFill>
                  <a:srgbClr val="5A6378"/>
                </a:solidFill>
                <a:latin typeface="Calibri" pitchFamily="34" charset="0"/>
                <a:ea typeface="Calibri" pitchFamily="34" charset="-122"/>
                <a:cs typeface="Calibri" pitchFamily="34" charset="-120"/>
              </a:rPr>
              <a:t>Cosmetic, but it inflates audit gap and rule sprawl.</a:t>
            </a:r>
            <a:endParaRPr lang="en-US" sz="1600" dirty="0"/>
          </a:p>
        </p:txBody>
      </p:sp>
      <p:sp>
        <p:nvSpPr>
          <p:cNvPr id="27" name="Text 25"/>
          <p:cNvSpPr/>
          <p:nvPr/>
        </p:nvSpPr>
        <p:spPr>
          <a:xfrm>
            <a:off x="457200" y="6126480"/>
            <a:ext cx="10972800" cy="320040"/>
          </a:xfrm>
          <a:prstGeom prst="rect">
            <a:avLst/>
          </a:prstGeom>
          <a:noFill/>
          <a:ln/>
        </p:spPr>
        <p:txBody>
          <a:bodyPr wrap="square" rtlCol="0" anchor="ctr"/>
          <a:lstStyle/>
          <a:p>
            <a:pPr indent="0" marL="0">
              <a:buNone/>
            </a:pPr>
            <a:r>
              <a:rPr lang="en-US" sz="1400" i="1" dirty="0">
                <a:solidFill>
                  <a:srgbClr val="5A6378"/>
                </a:solidFill>
                <a:latin typeface="Calibri" pitchFamily="34" charset="0"/>
                <a:ea typeface="Calibri" pitchFamily="34" charset="-122"/>
                <a:cs typeface="Calibri" pitchFamily="34" charset="-120"/>
              </a:rPr>
              <a:t>(Al-Shaer &amp; Hamed, IEEE INFOCOM 2004)</a:t>
            </a:r>
            <a:endParaRPr lang="en-US" sz="1400" dirty="0"/>
          </a:p>
        </p:txBody>
      </p:sp>
      <p:sp>
        <p:nvSpPr>
          <p:cNvPr id="28" name="Text 26"/>
          <p:cNvSpPr/>
          <p:nvPr/>
        </p:nvSpPr>
        <p:spPr>
          <a:xfrm>
            <a:off x="457200" y="6446520"/>
            <a:ext cx="3657600" cy="274320"/>
          </a:xfrm>
          <a:prstGeom prst="rect">
            <a:avLst/>
          </a:prstGeom>
          <a:noFill/>
          <a:ln/>
        </p:spPr>
        <p:txBody>
          <a:bodyPr wrap="square" rtlCol="0" anchor="ctr"/>
          <a:lstStyle/>
          <a:p>
            <a:pPr indent="0" marL="0">
              <a:buNone/>
            </a:pPr>
            <a:r>
              <a:rPr lang="en-US" sz="1000" i="1" dirty="0">
                <a:solidFill>
                  <a:srgbClr val="5A6378"/>
                </a:solidFill>
                <a:latin typeface="Calibri" pitchFamily="34" charset="0"/>
                <a:ea typeface="Calibri" pitchFamily="34" charset="-122"/>
                <a:cs typeface="Calibri" pitchFamily="34" charset="-120"/>
              </a:rPr>
              <a:t>shaerlock · ENPM693</a:t>
            </a:r>
            <a:endParaRPr lang="en-US" sz="1000" dirty="0"/>
          </a:p>
        </p:txBody>
      </p:sp>
      <p:sp>
        <p:nvSpPr>
          <p:cNvPr id="29" name="Text 27"/>
          <p:cNvSpPr/>
          <p:nvPr/>
        </p:nvSpPr>
        <p:spPr>
          <a:xfrm>
            <a:off x="11274552" y="6446520"/>
            <a:ext cx="73152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5 / 11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B"/>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2761"/>
          </a:solidFill>
          <a:ln/>
        </p:spPr>
      </p:sp>
      <p:sp>
        <p:nvSpPr>
          <p:cNvPr id="3" name="Shape 1"/>
          <p:cNvSpPr/>
          <p:nvPr/>
        </p:nvSpPr>
        <p:spPr>
          <a:xfrm>
            <a:off x="457200" y="411480"/>
            <a:ext cx="320040" cy="320040"/>
          </a:xfrm>
          <a:prstGeom prst="ellipse">
            <a:avLst/>
          </a:prstGeom>
          <a:solidFill>
            <a:srgbClr val="1E2761"/>
          </a:solidFill>
          <a:ln w="12700">
            <a:solidFill>
              <a:srgbClr val="1E2761"/>
            </a:solidFill>
            <a:prstDash val="solid"/>
          </a:ln>
        </p:spPr>
      </p:sp>
      <p:sp>
        <p:nvSpPr>
          <p:cNvPr id="4" name="Text 2"/>
          <p:cNvSpPr/>
          <p:nvPr/>
        </p:nvSpPr>
        <p:spPr>
          <a:xfrm>
            <a:off x="457200" y="411480"/>
            <a:ext cx="320040" cy="32004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5" name="Text 3"/>
          <p:cNvSpPr/>
          <p:nvPr/>
        </p:nvSpPr>
        <p:spPr>
          <a:xfrm>
            <a:off x="868680" y="384048"/>
            <a:ext cx="7315200" cy="365760"/>
          </a:xfrm>
          <a:prstGeom prst="rect">
            <a:avLst/>
          </a:prstGeom>
          <a:noFill/>
          <a:ln/>
        </p:spPr>
        <p:txBody>
          <a:bodyPr wrap="square" rtlCol="0" anchor="ctr"/>
          <a:lstStyle/>
          <a:p>
            <a:pPr indent="0" marL="0">
              <a:buNone/>
            </a:pPr>
            <a:r>
              <a:rPr lang="en-US" sz="1400" b="1" spc="200" kern="0" dirty="0">
                <a:solidFill>
                  <a:srgbClr val="5A6378"/>
                </a:solidFill>
                <a:latin typeface="Calibri" pitchFamily="34" charset="0"/>
                <a:ea typeface="Calibri" pitchFamily="34" charset="-122"/>
                <a:cs typeface="Calibri" pitchFamily="34" charset="-120"/>
              </a:rPr>
              <a:t>EVASION LINKAGE</a:t>
            </a:r>
            <a:endParaRPr lang="en-US" sz="1400" dirty="0"/>
          </a:p>
        </p:txBody>
      </p:sp>
      <p:sp>
        <p:nvSpPr>
          <p:cNvPr id="6" name="Text 4"/>
          <p:cNvSpPr/>
          <p:nvPr/>
        </p:nvSpPr>
        <p:spPr>
          <a:xfrm>
            <a:off x="457200" y="777240"/>
            <a:ext cx="11274552" cy="960120"/>
          </a:xfrm>
          <a:prstGeom prst="rect">
            <a:avLst/>
          </a:prstGeom>
          <a:noFill/>
          <a:ln/>
        </p:spPr>
        <p:txBody>
          <a:bodyPr wrap="square" rtlCol="0" anchor="ctr"/>
          <a:lstStyle/>
          <a:p>
            <a:pPr indent="0" marL="0">
              <a:buNone/>
            </a:pPr>
            <a:r>
              <a:rPr lang="en-US" sz="3200" b="1" dirty="0">
                <a:solidFill>
                  <a:srgbClr val="1E2761"/>
                </a:solidFill>
                <a:latin typeface="Georgia" pitchFamily="34" charset="0"/>
                <a:ea typeface="Georgia" pitchFamily="34" charset="-122"/>
                <a:cs typeface="Georgia" pitchFamily="34" charset="-120"/>
              </a:rPr>
              <a:t>Every anomaly class maps to a published technique and MITRE ATT&amp;CK ID.</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2194560"/>
                <a:gridCol w="4114800"/>
                <a:gridCol w="1463040"/>
                <a:gridCol w="3291840"/>
              </a:tblGrid>
              <a:tr h="68580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Anomaly</a:t>
                      </a:r>
                      <a:endParaRPr lang="en-US" sz="1600" dirty="0">
                        <a:latin typeface="Calibri" charset="0"/>
                        <a:ea typeface="Calibri" charset="0"/>
                        <a:cs typeface="Calibri" charset="0"/>
                      </a:endParaRPr>
                    </a:p>
                  </a:txBody>
                  <a:tcPr marL="91440" marR="91440" marT="45720" marB="4572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1E2761"/>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Technique</a:t>
                      </a:r>
                      <a:endParaRPr lang="en-US" sz="1600" dirty="0">
                        <a:latin typeface="Calibri" charset="0"/>
                        <a:ea typeface="Calibri" charset="0"/>
                        <a:cs typeface="Calibri" charset="0"/>
                      </a:endParaRPr>
                    </a:p>
                  </a:txBody>
                  <a:tcPr marL="91440" marR="91440" marT="45720" marB="4572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1E2761"/>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ATT&amp;CK</a:t>
                      </a:r>
                      <a:endParaRPr lang="en-US" sz="1600" dirty="0">
                        <a:latin typeface="Calibri" charset="0"/>
                        <a:ea typeface="Calibri" charset="0"/>
                        <a:cs typeface="Calibri" charset="0"/>
                      </a:endParaRPr>
                    </a:p>
                  </a:txBody>
                  <a:tcPr marL="91440" marR="91440" marT="45720" marB="4572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1E2761"/>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Citation</a:t>
                      </a:r>
                      <a:endParaRPr lang="en-US" sz="1600" dirty="0">
                        <a:latin typeface="Calibri" charset="0"/>
                        <a:ea typeface="Calibri" charset="0"/>
                        <a:cs typeface="Calibri" charset="0"/>
                      </a:endParaRPr>
                    </a:p>
                  </a:txBody>
                  <a:tcPr marL="91440" marR="91440" marT="45720" marB="4572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1E2761"/>
                    </a:solidFill>
                  </a:tcPr>
                </a:tc>
              </a:tr>
              <a:tr h="685800">
                <a:tc>
                  <a:txBody>
                    <a:bodyPr/>
                    <a:lstStyle/>
                    <a:p>
                      <a:pPr indent="0" marL="0">
                        <a:buNone/>
                      </a:pPr>
                      <a:r>
                        <a:rPr lang="en-US" sz="1600" b="1" dirty="0">
                          <a:solidFill>
                            <a:srgbClr val="1E2761"/>
                          </a:solidFill>
                          <a:latin typeface="Calibri" pitchFamily="34" charset="0"/>
                          <a:ea typeface="Calibri" pitchFamily="34" charset="-122"/>
                          <a:cs typeface="Calibri" pitchFamily="34" charset="-120"/>
                        </a:rPr>
                        <a:t>SHADOWING</a:t>
                      </a:r>
                      <a:endParaRPr lang="en-US" sz="1600" dirty="0">
                        <a:latin typeface="Calibri" charset="0"/>
                        <a:ea typeface="Calibri" charset="0"/>
                        <a:cs typeface="Calibri" charset="0"/>
                      </a:endParaRPr>
                    </a:p>
                  </a:txBody>
                  <a:tcPr marL="91440" marR="91440" marT="45720" marB="4572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FFFFFF"/>
                    </a:solidFill>
                  </a:tcPr>
                </a:tc>
                <a:tc>
                  <a:txBody>
                    <a:bodyPr/>
                    <a:lstStyle/>
                    <a:p>
                      <a:pPr indent="0" marL="0">
                        <a:buNone/>
                      </a:pPr>
                      <a:r>
                        <a:rPr lang="en-US" sz="1600" dirty="0">
                          <a:solidFill>
                            <a:srgbClr val="0A0F2C"/>
                          </a:solidFill>
                          <a:latin typeface="Calibri" pitchFamily="34" charset="0"/>
                          <a:ea typeface="Calibri" pitchFamily="34" charset="-122"/>
                          <a:cs typeface="Calibri" pitchFamily="34" charset="-120"/>
                        </a:rPr>
                        <a:t>IP fragmentation evasion</a:t>
                      </a:r>
                      <a:endParaRPr lang="en-US" sz="1600" dirty="0">
                        <a:latin typeface="Calibri" charset="0"/>
                        <a:ea typeface="Calibri" charset="0"/>
                        <a:cs typeface="Calibri" charset="0"/>
                      </a:endParaRPr>
                    </a:p>
                  </a:txBody>
                  <a:tcPr marL="91440" marR="91440" marT="45720" marB="4572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FFFFFF"/>
                    </a:solidFill>
                  </a:tcPr>
                </a:tc>
                <a:tc>
                  <a:txBody>
                    <a:bodyPr/>
                    <a:lstStyle/>
                    <a:p>
                      <a:pPr indent="0" marL="0">
                        <a:buNone/>
                      </a:pPr>
                      <a:r>
                        <a:rPr lang="en-US" sz="1600" b="1" dirty="0">
                          <a:solidFill>
                            <a:srgbClr val="F96167"/>
                          </a:solidFill>
                          <a:latin typeface="Courier New" pitchFamily="34" charset="0"/>
                          <a:ea typeface="Courier New" pitchFamily="34" charset="-122"/>
                          <a:cs typeface="Courier New" pitchFamily="34" charset="-120"/>
                        </a:rPr>
                        <a:t>T1599</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FFFFFF"/>
                    </a:solidFill>
                  </a:tcPr>
                </a:tc>
                <a:tc>
                  <a:txBody>
                    <a:bodyPr/>
                    <a:lstStyle/>
                    <a:p>
                      <a:pPr indent="0" marL="0">
                        <a:buNone/>
                      </a:pPr>
                      <a:r>
                        <a:rPr lang="en-US" sz="1600" dirty="0">
                          <a:solidFill>
                            <a:srgbClr val="0A0F2C"/>
                          </a:solidFill>
                          <a:latin typeface="Calibri" pitchFamily="34" charset="0"/>
                          <a:ea typeface="Calibri" pitchFamily="34" charset="-122"/>
                          <a:cs typeface="Calibri" pitchFamily="34" charset="-120"/>
                        </a:rPr>
                        <a:t>Ptacek &amp; Newsham 1998</a:t>
                      </a:r>
                      <a:endParaRPr lang="en-US" sz="1600" dirty="0">
                        <a:latin typeface="Calibri" charset="0"/>
                        <a:ea typeface="Calibri" charset="0"/>
                        <a:cs typeface="Calibri" charset="0"/>
                      </a:endParaRPr>
                    </a:p>
                  </a:txBody>
                  <a:tcPr marL="91440" marR="91440" marT="45720" marB="4572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FFFFFF"/>
                    </a:solidFill>
                  </a:tcPr>
                </a:tc>
              </a:tr>
              <a:tr h="685800">
                <a:tc>
                  <a:txBody>
                    <a:bodyPr/>
                    <a:lstStyle/>
                    <a:p>
                      <a:pPr indent="0" marL="0">
                        <a:buNone/>
                      </a:pPr>
                      <a:r>
                        <a:rPr lang="en-US" sz="1600" b="1" dirty="0">
                          <a:solidFill>
                            <a:srgbClr val="1E2761"/>
                          </a:solidFill>
                          <a:latin typeface="Calibri" pitchFamily="34" charset="0"/>
                          <a:ea typeface="Calibri" pitchFamily="34" charset="-122"/>
                          <a:cs typeface="Calibri" pitchFamily="34" charset="-120"/>
                        </a:rPr>
                        <a:t>GENERALIZATION</a:t>
                      </a:r>
                      <a:endParaRPr lang="en-US" sz="1600" dirty="0">
                        <a:latin typeface="Calibri" charset="0"/>
                        <a:ea typeface="Calibri" charset="0"/>
                        <a:cs typeface="Calibri" charset="0"/>
                      </a:endParaRPr>
                    </a:p>
                  </a:txBody>
                  <a:tcPr marL="91440" marR="91440" marT="45720" marB="4572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CADCFC"/>
                    </a:solidFill>
                  </a:tcPr>
                </a:tc>
                <a:tc>
                  <a:txBody>
                    <a:bodyPr/>
                    <a:lstStyle/>
                    <a:p>
                      <a:pPr indent="0" marL="0">
                        <a:buNone/>
                      </a:pPr>
                      <a:r>
                        <a:rPr lang="en-US" sz="1600" dirty="0">
                          <a:solidFill>
                            <a:srgbClr val="0A0F2C"/>
                          </a:solidFill>
                          <a:latin typeface="Calibri" pitchFamily="34" charset="0"/>
                          <a:ea typeface="Calibri" pitchFamily="34" charset="-122"/>
                          <a:cs typeface="Calibri" pitchFamily="34" charset="-120"/>
                        </a:rPr>
                        <a:t>Match-set widening</a:t>
                      </a:r>
                      <a:endParaRPr lang="en-US" sz="1600" dirty="0">
                        <a:latin typeface="Calibri" charset="0"/>
                        <a:ea typeface="Calibri" charset="0"/>
                        <a:cs typeface="Calibri" charset="0"/>
                      </a:endParaRPr>
                    </a:p>
                  </a:txBody>
                  <a:tcPr marL="91440" marR="91440" marT="45720" marB="4572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CADCFC"/>
                    </a:solidFill>
                  </a:tcPr>
                </a:tc>
                <a:tc>
                  <a:txBody>
                    <a:bodyPr/>
                    <a:lstStyle/>
                    <a:p>
                      <a:pPr indent="0" marL="0">
                        <a:buNone/>
                      </a:pPr>
                      <a:r>
                        <a:rPr lang="en-US" sz="1600" b="1" dirty="0">
                          <a:solidFill>
                            <a:srgbClr val="F96167"/>
                          </a:solidFill>
                          <a:latin typeface="Courier New" pitchFamily="34" charset="0"/>
                          <a:ea typeface="Courier New" pitchFamily="34" charset="-122"/>
                          <a:cs typeface="Courier New" pitchFamily="34" charset="-120"/>
                        </a:rPr>
                        <a:t>T1599</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CADCFC"/>
                    </a:solidFill>
                  </a:tcPr>
                </a:tc>
                <a:tc>
                  <a:txBody>
                    <a:bodyPr/>
                    <a:lstStyle/>
                    <a:p>
                      <a:pPr indent="0" marL="0">
                        <a:buNone/>
                      </a:pPr>
                      <a:r>
                        <a:rPr lang="en-US" sz="1600" dirty="0">
                          <a:solidFill>
                            <a:srgbClr val="0A0F2C"/>
                          </a:solidFill>
                          <a:latin typeface="Calibri" pitchFamily="34" charset="0"/>
                          <a:ea typeface="Calibri" pitchFamily="34" charset="-122"/>
                          <a:cs typeface="Calibri" pitchFamily="34" charset="-120"/>
                        </a:rPr>
                        <a:t>Al-Shaer &amp; Hamed 2004</a:t>
                      </a:r>
                      <a:endParaRPr lang="en-US" sz="1600" dirty="0">
                        <a:latin typeface="Calibri" charset="0"/>
                        <a:ea typeface="Calibri" charset="0"/>
                        <a:cs typeface="Calibri" charset="0"/>
                      </a:endParaRPr>
                    </a:p>
                  </a:txBody>
                  <a:tcPr marL="91440" marR="91440" marT="45720" marB="4572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CADCFC"/>
                    </a:solidFill>
                  </a:tcPr>
                </a:tc>
              </a:tr>
              <a:tr h="685800">
                <a:tc>
                  <a:txBody>
                    <a:bodyPr/>
                    <a:lstStyle/>
                    <a:p>
                      <a:pPr indent="0" marL="0">
                        <a:buNone/>
                      </a:pPr>
                      <a:r>
                        <a:rPr lang="en-US" sz="1600" b="1" dirty="0">
                          <a:solidFill>
                            <a:srgbClr val="1E2761"/>
                          </a:solidFill>
                          <a:latin typeface="Calibri" pitchFamily="34" charset="0"/>
                          <a:ea typeface="Calibri" pitchFamily="34" charset="-122"/>
                          <a:cs typeface="Calibri" pitchFamily="34" charset="-120"/>
                        </a:rPr>
                        <a:t>CORRELATION</a:t>
                      </a:r>
                      <a:endParaRPr lang="en-US" sz="1600" dirty="0">
                        <a:latin typeface="Calibri" charset="0"/>
                        <a:ea typeface="Calibri" charset="0"/>
                        <a:cs typeface="Calibri" charset="0"/>
                      </a:endParaRPr>
                    </a:p>
                  </a:txBody>
                  <a:tcPr marL="91440" marR="91440" marT="45720" marB="4572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FFFFFF"/>
                    </a:solidFill>
                  </a:tcPr>
                </a:tc>
                <a:tc>
                  <a:txBody>
                    <a:bodyPr/>
                    <a:lstStyle/>
                    <a:p>
                      <a:pPr indent="0" marL="0">
                        <a:buNone/>
                      </a:pPr>
                      <a:r>
                        <a:rPr lang="en-US" sz="1600" dirty="0">
                          <a:solidFill>
                            <a:srgbClr val="0A0F2C"/>
                          </a:solidFill>
                          <a:latin typeface="Calibri" pitchFamily="34" charset="0"/>
                          <a:ea typeface="Calibri" pitchFamily="34" charset="-122"/>
                          <a:cs typeface="Calibri" pitchFamily="34" charset="-120"/>
                        </a:rPr>
                        <a:t>Order-dependent rule rewrite</a:t>
                      </a:r>
                      <a:endParaRPr lang="en-US" sz="1600" dirty="0">
                        <a:latin typeface="Calibri" charset="0"/>
                        <a:ea typeface="Calibri" charset="0"/>
                        <a:cs typeface="Calibri" charset="0"/>
                      </a:endParaRPr>
                    </a:p>
                  </a:txBody>
                  <a:tcPr marL="91440" marR="91440" marT="45720" marB="4572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FFFFFF"/>
                    </a:solidFill>
                  </a:tcPr>
                </a:tc>
                <a:tc>
                  <a:txBody>
                    <a:bodyPr/>
                    <a:lstStyle/>
                    <a:p>
                      <a:pPr indent="0" marL="0">
                        <a:buNone/>
                      </a:pPr>
                      <a:r>
                        <a:rPr lang="en-US" sz="1600" b="1" dirty="0">
                          <a:solidFill>
                            <a:srgbClr val="F96167"/>
                          </a:solidFill>
                          <a:latin typeface="Courier New" pitchFamily="34" charset="0"/>
                          <a:ea typeface="Courier New" pitchFamily="34" charset="-122"/>
                          <a:cs typeface="Courier New" pitchFamily="34" charset="-120"/>
                        </a:rPr>
                        <a:t>T1599</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FFFFFF"/>
                    </a:solidFill>
                  </a:tcPr>
                </a:tc>
                <a:tc>
                  <a:txBody>
                    <a:bodyPr/>
                    <a:lstStyle/>
                    <a:p>
                      <a:pPr indent="0" marL="0">
                        <a:buNone/>
                      </a:pPr>
                      <a:r>
                        <a:rPr lang="en-US" sz="1600" dirty="0">
                          <a:solidFill>
                            <a:srgbClr val="0A0F2C"/>
                          </a:solidFill>
                          <a:latin typeface="Calibri" pitchFamily="34" charset="0"/>
                          <a:ea typeface="Calibri" pitchFamily="34" charset="-122"/>
                          <a:cs typeface="Calibri" pitchFamily="34" charset="-120"/>
                        </a:rPr>
                        <a:t>Al-Shaer &amp; Hamed 2004</a:t>
                      </a:r>
                      <a:endParaRPr lang="en-US" sz="1600" dirty="0">
                        <a:latin typeface="Calibri" charset="0"/>
                        <a:ea typeface="Calibri" charset="0"/>
                        <a:cs typeface="Calibri" charset="0"/>
                      </a:endParaRPr>
                    </a:p>
                  </a:txBody>
                  <a:tcPr marL="91440" marR="91440" marT="45720" marB="4572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FFFFFF"/>
                    </a:solidFill>
                  </a:tcPr>
                </a:tc>
              </a:tr>
              <a:tr h="685800">
                <a:tc>
                  <a:txBody>
                    <a:bodyPr/>
                    <a:lstStyle/>
                    <a:p>
                      <a:pPr indent="0" marL="0">
                        <a:buNone/>
                      </a:pPr>
                      <a:r>
                        <a:rPr lang="en-US" sz="1600" b="1" dirty="0">
                          <a:solidFill>
                            <a:srgbClr val="1E2761"/>
                          </a:solidFill>
                          <a:latin typeface="Calibri" pitchFamily="34" charset="0"/>
                          <a:ea typeface="Calibri" pitchFamily="34" charset="-122"/>
                          <a:cs typeface="Calibri" pitchFamily="34" charset="-120"/>
                        </a:rPr>
                        <a:t>REDUNDANCY</a:t>
                      </a:r>
                      <a:endParaRPr lang="en-US" sz="1600" dirty="0">
                        <a:latin typeface="Calibri" charset="0"/>
                        <a:ea typeface="Calibri" charset="0"/>
                        <a:cs typeface="Calibri" charset="0"/>
                      </a:endParaRPr>
                    </a:p>
                  </a:txBody>
                  <a:tcPr marL="91440" marR="91440" marT="45720" marB="4572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CADCFC"/>
                    </a:solidFill>
                  </a:tcPr>
                </a:tc>
                <a:tc>
                  <a:txBody>
                    <a:bodyPr/>
                    <a:lstStyle/>
                    <a:p>
                      <a:pPr indent="0" marL="0">
                        <a:buNone/>
                      </a:pPr>
                      <a:r>
                        <a:rPr lang="en-US" sz="1600" dirty="0">
                          <a:solidFill>
                            <a:srgbClr val="0A0F2C"/>
                          </a:solidFill>
                          <a:latin typeface="Calibri" pitchFamily="34" charset="0"/>
                          <a:ea typeface="Calibri" pitchFamily="34" charset="-122"/>
                          <a:cs typeface="Calibri" pitchFamily="34" charset="-120"/>
                        </a:rPr>
                        <a:t>Audit-gap abuse / tunneling</a:t>
                      </a:r>
                      <a:endParaRPr lang="en-US" sz="1600" dirty="0">
                        <a:latin typeface="Calibri" charset="0"/>
                        <a:ea typeface="Calibri" charset="0"/>
                        <a:cs typeface="Calibri" charset="0"/>
                      </a:endParaRPr>
                    </a:p>
                  </a:txBody>
                  <a:tcPr marL="91440" marR="91440" marT="45720" marB="4572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CADCFC"/>
                    </a:solidFill>
                  </a:tcPr>
                </a:tc>
                <a:tc>
                  <a:txBody>
                    <a:bodyPr/>
                    <a:lstStyle/>
                    <a:p>
                      <a:pPr indent="0" marL="0">
                        <a:buNone/>
                      </a:pPr>
                      <a:r>
                        <a:rPr lang="en-US" sz="1600" b="1" dirty="0">
                          <a:solidFill>
                            <a:srgbClr val="F96167"/>
                          </a:solidFill>
                          <a:latin typeface="Courier New" pitchFamily="34" charset="0"/>
                          <a:ea typeface="Courier New" pitchFamily="34" charset="-122"/>
                          <a:cs typeface="Courier New" pitchFamily="34" charset="-120"/>
                        </a:rPr>
                        <a:t>T1562.004</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CADCFC"/>
                    </a:solidFill>
                  </a:tcPr>
                </a:tc>
                <a:tc>
                  <a:txBody>
                    <a:bodyPr/>
                    <a:lstStyle/>
                    <a:p>
                      <a:pPr indent="0" marL="0">
                        <a:buNone/>
                      </a:pPr>
                      <a:r>
                        <a:rPr lang="en-US" sz="1600" dirty="0">
                          <a:solidFill>
                            <a:srgbClr val="0A0F2C"/>
                          </a:solidFill>
                          <a:latin typeface="Calibri" pitchFamily="34" charset="0"/>
                          <a:ea typeface="Calibri" pitchFamily="34" charset="-122"/>
                          <a:cs typeface="Calibri" pitchFamily="34" charset="-120"/>
                        </a:rPr>
                        <a:t>Wool 2004</a:t>
                      </a:r>
                      <a:endParaRPr lang="en-US" sz="1600" dirty="0">
                        <a:latin typeface="Calibri" charset="0"/>
                        <a:ea typeface="Calibri" charset="0"/>
                        <a:cs typeface="Calibri" charset="0"/>
                      </a:endParaRPr>
                    </a:p>
                  </a:txBody>
                  <a:tcPr marL="91440" marR="91440" marT="45720" marB="4572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CADCFC"/>
                    </a:solidFill>
                  </a:tcPr>
                </a:tc>
              </a:tr>
            </a:tbl>
          </a:graphicData>
        </a:graphic>
      </p:graphicFrame>
      <p:sp>
        <p:nvSpPr>
          <p:cNvPr id="8" name="Text 5"/>
          <p:cNvSpPr/>
          <p:nvPr/>
        </p:nvSpPr>
        <p:spPr>
          <a:xfrm>
            <a:off x="548640" y="5577840"/>
            <a:ext cx="11064240" cy="548640"/>
          </a:xfrm>
          <a:prstGeom prst="rect">
            <a:avLst/>
          </a:prstGeom>
          <a:noFill/>
          <a:ln/>
        </p:spPr>
        <p:txBody>
          <a:bodyPr wrap="square" rtlCol="0" anchor="ctr"/>
          <a:lstStyle/>
          <a:p>
            <a:pPr algn="ctr" indent="0" marL="0">
              <a:buNone/>
            </a:pPr>
            <a:r>
              <a:rPr lang="en-US" sz="1600" i="1" dirty="0">
                <a:solidFill>
                  <a:srgbClr val="5A6378"/>
                </a:solidFill>
                <a:latin typeface="Calibri" pitchFamily="34" charset="0"/>
                <a:ea typeface="Calibri" pitchFamily="34" charset="-122"/>
                <a:cs typeface="Calibri" pitchFamily="34" charset="-120"/>
              </a:rPr>
              <a:t>Linkage is a hardcoded table — the LLM is not asked to invent MITRE IDs. Reproducibility and citation fidelity over novelty.</a:t>
            </a:r>
            <a:endParaRPr lang="en-US" sz="1600" dirty="0"/>
          </a:p>
        </p:txBody>
      </p:sp>
      <p:sp>
        <p:nvSpPr>
          <p:cNvPr id="9" name="Text 6"/>
          <p:cNvSpPr/>
          <p:nvPr/>
        </p:nvSpPr>
        <p:spPr>
          <a:xfrm>
            <a:off x="457200" y="6446520"/>
            <a:ext cx="3657600" cy="274320"/>
          </a:xfrm>
          <a:prstGeom prst="rect">
            <a:avLst/>
          </a:prstGeom>
          <a:noFill/>
          <a:ln/>
        </p:spPr>
        <p:txBody>
          <a:bodyPr wrap="square" rtlCol="0" anchor="ctr"/>
          <a:lstStyle/>
          <a:p>
            <a:pPr indent="0" marL="0">
              <a:buNone/>
            </a:pPr>
            <a:r>
              <a:rPr lang="en-US" sz="1000" i="1" dirty="0">
                <a:solidFill>
                  <a:srgbClr val="5A6378"/>
                </a:solidFill>
                <a:latin typeface="Calibri" pitchFamily="34" charset="0"/>
                <a:ea typeface="Calibri" pitchFamily="34" charset="-122"/>
                <a:cs typeface="Calibri" pitchFamily="34" charset="-120"/>
              </a:rPr>
              <a:t>shaerlock · ENPM693</a:t>
            </a:r>
            <a:endParaRPr lang="en-US" sz="1000" dirty="0"/>
          </a:p>
        </p:txBody>
      </p:sp>
      <p:sp>
        <p:nvSpPr>
          <p:cNvPr id="10" name="Text 7"/>
          <p:cNvSpPr/>
          <p:nvPr/>
        </p:nvSpPr>
        <p:spPr>
          <a:xfrm>
            <a:off x="11274552" y="6446520"/>
            <a:ext cx="73152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6 / 11</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B"/>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2761"/>
          </a:solidFill>
          <a:ln/>
        </p:spPr>
      </p:sp>
      <p:sp>
        <p:nvSpPr>
          <p:cNvPr id="3" name="Shape 1"/>
          <p:cNvSpPr/>
          <p:nvPr/>
        </p:nvSpPr>
        <p:spPr>
          <a:xfrm>
            <a:off x="457200" y="411480"/>
            <a:ext cx="320040" cy="320040"/>
          </a:xfrm>
          <a:prstGeom prst="ellipse">
            <a:avLst/>
          </a:prstGeom>
          <a:solidFill>
            <a:srgbClr val="1E2761"/>
          </a:solidFill>
          <a:ln w="12700">
            <a:solidFill>
              <a:srgbClr val="1E2761"/>
            </a:solidFill>
            <a:prstDash val="solid"/>
          </a:ln>
        </p:spPr>
      </p:sp>
      <p:sp>
        <p:nvSpPr>
          <p:cNvPr id="4" name="Text 2"/>
          <p:cNvSpPr/>
          <p:nvPr/>
        </p:nvSpPr>
        <p:spPr>
          <a:xfrm>
            <a:off x="457200" y="411480"/>
            <a:ext cx="320040" cy="32004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5" name="Text 3"/>
          <p:cNvSpPr/>
          <p:nvPr/>
        </p:nvSpPr>
        <p:spPr>
          <a:xfrm>
            <a:off x="868680" y="384048"/>
            <a:ext cx="7315200" cy="365760"/>
          </a:xfrm>
          <a:prstGeom prst="rect">
            <a:avLst/>
          </a:prstGeom>
          <a:noFill/>
          <a:ln/>
        </p:spPr>
        <p:txBody>
          <a:bodyPr wrap="square" rtlCol="0" anchor="ctr"/>
          <a:lstStyle/>
          <a:p>
            <a:pPr indent="0" marL="0">
              <a:buNone/>
            </a:pPr>
            <a:r>
              <a:rPr lang="en-US" sz="1400" b="1" spc="200" kern="0" dirty="0">
                <a:solidFill>
                  <a:srgbClr val="5A6378"/>
                </a:solidFill>
                <a:latin typeface="Calibri" pitchFamily="34" charset="0"/>
                <a:ea typeface="Calibri" pitchFamily="34" charset="-122"/>
                <a:cs typeface="Calibri" pitchFamily="34" charset="-120"/>
              </a:rPr>
              <a:t>LLM DESIGN</a:t>
            </a:r>
            <a:endParaRPr lang="en-US" sz="1400" dirty="0"/>
          </a:p>
        </p:txBody>
      </p:sp>
      <p:sp>
        <p:nvSpPr>
          <p:cNvPr id="6" name="Text 4"/>
          <p:cNvSpPr/>
          <p:nvPr/>
        </p:nvSpPr>
        <p:spPr>
          <a:xfrm>
            <a:off x="457200" y="777240"/>
            <a:ext cx="11274552" cy="960120"/>
          </a:xfrm>
          <a:prstGeom prst="rect">
            <a:avLst/>
          </a:prstGeom>
          <a:noFill/>
          <a:ln/>
        </p:spPr>
        <p:txBody>
          <a:bodyPr wrap="square" rtlCol="0" anchor="ctr"/>
          <a:lstStyle/>
          <a:p>
            <a:pPr indent="0" marL="0">
              <a:buNone/>
            </a:pPr>
            <a:r>
              <a:rPr lang="en-US" sz="3200" b="1" dirty="0">
                <a:solidFill>
                  <a:srgbClr val="1E2761"/>
                </a:solidFill>
                <a:latin typeface="Georgia" pitchFamily="34" charset="0"/>
                <a:ea typeface="Georgia" pitchFamily="34" charset="-122"/>
                <a:cs typeface="Georgia" pitchFamily="34" charset="-120"/>
              </a:rPr>
              <a:t>A strict JSON contract produced zero hallucinated rule indices.</a:t>
            </a:r>
            <a:endParaRPr lang="en-US" sz="3200" dirty="0"/>
          </a:p>
        </p:txBody>
      </p:sp>
      <p:sp>
        <p:nvSpPr>
          <p:cNvPr id="7" name="Shape 5"/>
          <p:cNvSpPr/>
          <p:nvPr/>
        </p:nvSpPr>
        <p:spPr>
          <a:xfrm>
            <a:off x="457200" y="2011680"/>
            <a:ext cx="6949440" cy="3840480"/>
          </a:xfrm>
          <a:prstGeom prst="roundRect">
            <a:avLst>
              <a:gd name="adj" fmla="val 2381"/>
            </a:avLst>
          </a:prstGeom>
          <a:solidFill>
            <a:srgbClr val="0A0F2C"/>
          </a:solidFill>
          <a:ln w="12700">
            <a:solidFill>
              <a:srgbClr val="0A0F2C"/>
            </a:solidFill>
            <a:prstDash val="solid"/>
          </a:ln>
        </p:spPr>
      </p:sp>
      <p:sp>
        <p:nvSpPr>
          <p:cNvPr id="8" name="Text 6"/>
          <p:cNvSpPr/>
          <p:nvPr/>
        </p:nvSpPr>
        <p:spPr>
          <a:xfrm>
            <a:off x="640080" y="2103120"/>
            <a:ext cx="6766560" cy="320040"/>
          </a:xfrm>
          <a:prstGeom prst="rect">
            <a:avLst/>
          </a:prstGeom>
          <a:noFill/>
          <a:ln/>
        </p:spPr>
        <p:txBody>
          <a:bodyPr wrap="square"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system prompt (excerpt)</a:t>
            </a:r>
            <a:endParaRPr lang="en-US" sz="1400" dirty="0"/>
          </a:p>
        </p:txBody>
      </p:sp>
      <p:sp>
        <p:nvSpPr>
          <p:cNvPr id="9" name="Text 7"/>
          <p:cNvSpPr/>
          <p:nvPr/>
        </p:nvSpPr>
        <p:spPr>
          <a:xfrm>
            <a:off x="640080" y="2468880"/>
            <a:ext cx="6766560" cy="3291840"/>
          </a:xfrm>
          <a:prstGeom prst="rect">
            <a:avLst/>
          </a:prstGeom>
          <a:noFill/>
          <a:ln/>
        </p:spPr>
        <p:txBody>
          <a:bodyPr wrap="square" rtlCol="0" anchor="ctr"/>
          <a:lstStyle/>
          <a:p>
            <a:pPr indent="0" marL="0">
              <a:buNone/>
            </a:pPr>
            <a:r>
              <a:rPr lang="en-US" sz="1400" dirty="0">
                <a:solidFill>
                  <a:srgbClr val="CADCFC"/>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CADCFC"/>
                </a:solidFill>
                <a:latin typeface="Courier New" pitchFamily="34" charset="0"/>
                <a:ea typeface="Courier New" pitchFamily="34" charset="-122"/>
                <a:cs typeface="Courier New" pitchFamily="34" charset="-120"/>
              </a:rPr>
              <a:t>  "role": "firewall-policy auditor",</a:t>
            </a:r>
            <a:endParaRPr lang="en-US" sz="1400" dirty="0"/>
          </a:p>
          <a:p>
            <a:pPr indent="0" marL="0">
              <a:buNone/>
            </a:pPr>
            <a:r>
              <a:rPr lang="en-US" sz="1400" dirty="0">
                <a:solidFill>
                  <a:srgbClr val="CADCFC"/>
                </a:solidFill>
                <a:latin typeface="Courier New" pitchFamily="34" charset="0"/>
                <a:ea typeface="Courier New" pitchFamily="34" charset="-122"/>
                <a:cs typeface="Courier New" pitchFamily="34" charset="-120"/>
              </a:rPr>
              <a:t>  "contract": {</a:t>
            </a:r>
            <a:endParaRPr lang="en-US" sz="1400" dirty="0"/>
          </a:p>
          <a:p>
            <a:pPr indent="0" marL="0">
              <a:buNone/>
            </a:pPr>
            <a:r>
              <a:rPr lang="en-US" sz="1400" dirty="0">
                <a:solidFill>
                  <a:srgbClr val="CADCFC"/>
                </a:solidFill>
                <a:latin typeface="Courier New" pitchFamily="34" charset="0"/>
                <a:ea typeface="Courier New" pitchFamily="34" charset="-122"/>
                <a:cs typeface="Courier New" pitchFamily="34" charset="-120"/>
              </a:rPr>
              <a:t>    "output":  "valid JSON only",</a:t>
            </a:r>
            <a:endParaRPr lang="en-US" sz="1400" dirty="0"/>
          </a:p>
          <a:p>
            <a:pPr indent="0" marL="0">
              <a:buNone/>
            </a:pPr>
            <a:r>
              <a:rPr lang="en-US" sz="1400" dirty="0">
                <a:solidFill>
                  <a:srgbClr val="CADCFC"/>
                </a:solidFill>
                <a:latin typeface="Courier New" pitchFamily="34" charset="0"/>
                <a:ea typeface="Courier New" pitchFamily="34" charset="-122"/>
                <a:cs typeface="Courier New" pitchFamily="34" charset="-120"/>
              </a:rPr>
              <a:t>    "class":   "FIXED — do not reclassify",</a:t>
            </a:r>
            <a:endParaRPr lang="en-US" sz="1400" dirty="0"/>
          </a:p>
          <a:p>
            <a:pPr indent="0" marL="0">
              <a:buNone/>
            </a:pPr>
            <a:r>
              <a:rPr lang="en-US" sz="1400" dirty="0">
                <a:solidFill>
                  <a:srgbClr val="CADCFC"/>
                </a:solidFill>
                <a:latin typeface="Courier New" pitchFamily="34" charset="0"/>
                <a:ea typeface="Courier New" pitchFamily="34" charset="-122"/>
                <a:cs typeface="Courier New" pitchFamily="34" charset="-120"/>
              </a:rPr>
              <a:t>    "rules":   "reference ONLY indices in input",</a:t>
            </a:r>
            <a:endParaRPr lang="en-US" sz="1400" dirty="0"/>
          </a:p>
          <a:p>
            <a:pPr indent="0" marL="0">
              <a:buNone/>
            </a:pPr>
            <a:r>
              <a:rPr lang="en-US" sz="1400" dirty="0">
                <a:solidFill>
                  <a:srgbClr val="CADCFC"/>
                </a:solidFill>
                <a:latin typeface="Courier New" pitchFamily="34" charset="0"/>
                <a:ea typeface="Courier New" pitchFamily="34" charset="-122"/>
                <a:cs typeface="Courier New" pitchFamily="34" charset="-120"/>
              </a:rPr>
              <a:t>    "forbidden": ["invent rules",</a:t>
            </a:r>
            <a:endParaRPr lang="en-US" sz="1400" dirty="0"/>
          </a:p>
          <a:p>
            <a:pPr indent="0" marL="0">
              <a:buNone/>
            </a:pPr>
            <a:r>
              <a:rPr lang="en-US" sz="1400" dirty="0">
                <a:solidFill>
                  <a:srgbClr val="CADCFC"/>
                </a:solidFill>
                <a:latin typeface="Courier New" pitchFamily="34" charset="0"/>
                <a:ea typeface="Courier New" pitchFamily="34" charset="-122"/>
                <a:cs typeface="Courier New" pitchFamily="34" charset="-120"/>
              </a:rPr>
              <a:t>                   "prose outside JSON"]</a:t>
            </a:r>
            <a:endParaRPr lang="en-US" sz="1400" dirty="0"/>
          </a:p>
          <a:p>
            <a:pPr indent="0" marL="0">
              <a:buNone/>
            </a:pPr>
            <a:r>
              <a:rPr lang="en-US" sz="1400" dirty="0">
                <a:solidFill>
                  <a:srgbClr val="CADCFC"/>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CADCFC"/>
                </a:solidFill>
                <a:latin typeface="Courier New" pitchFamily="34" charset="0"/>
                <a:ea typeface="Courier New" pitchFamily="34" charset="-122"/>
                <a:cs typeface="Courier New" pitchFamily="34" charset="-120"/>
              </a:rPr>
              <a:t>  "emit": ["severity", "explanation",</a:t>
            </a:r>
            <a:endParaRPr lang="en-US" sz="1400" dirty="0"/>
          </a:p>
          <a:p>
            <a:pPr indent="0" marL="0">
              <a:buNone/>
            </a:pPr>
            <a:r>
              <a:rPr lang="en-US" sz="1400" dirty="0">
                <a:solidFill>
                  <a:srgbClr val="CADCFC"/>
                </a:solidFill>
                <a:latin typeface="Courier New" pitchFamily="34" charset="0"/>
                <a:ea typeface="Courier New" pitchFamily="34" charset="-122"/>
                <a:cs typeface="Courier New" pitchFamily="34" charset="-120"/>
              </a:rPr>
              <a:t>           "suggested_fix"]</a:t>
            </a:r>
            <a:endParaRPr lang="en-US" sz="1400" dirty="0"/>
          </a:p>
          <a:p>
            <a:pPr indent="0" marL="0">
              <a:buNone/>
            </a:pPr>
            <a:r>
              <a:rPr lang="en-US" sz="1400" dirty="0">
                <a:solidFill>
                  <a:srgbClr val="CADCFC"/>
                </a:solidFill>
                <a:latin typeface="Courier New" pitchFamily="34" charset="0"/>
                <a:ea typeface="Courier New" pitchFamily="34" charset="-122"/>
                <a:cs typeface="Courier New" pitchFamily="34" charset="-120"/>
              </a:rPr>
              <a:t>}</a:t>
            </a:r>
            <a:endParaRPr lang="en-US" sz="1400" dirty="0"/>
          </a:p>
        </p:txBody>
      </p:sp>
      <p:sp>
        <p:nvSpPr>
          <p:cNvPr id="10" name="Shape 8"/>
          <p:cNvSpPr/>
          <p:nvPr/>
        </p:nvSpPr>
        <p:spPr>
          <a:xfrm>
            <a:off x="7680960" y="2011680"/>
            <a:ext cx="4023360" cy="3840480"/>
          </a:xfrm>
          <a:prstGeom prst="roundRect">
            <a:avLst>
              <a:gd name="adj" fmla="val 2381"/>
            </a:avLst>
          </a:prstGeom>
          <a:solidFill>
            <a:srgbClr val="1E2761"/>
          </a:solidFill>
          <a:ln w="12700">
            <a:solidFill>
              <a:srgbClr val="1E2761"/>
            </a:solidFill>
            <a:prstDash val="solid"/>
          </a:ln>
        </p:spPr>
      </p:sp>
      <p:sp>
        <p:nvSpPr>
          <p:cNvPr id="11" name="Text 9"/>
          <p:cNvSpPr/>
          <p:nvPr/>
        </p:nvSpPr>
        <p:spPr>
          <a:xfrm>
            <a:off x="7680960" y="2194560"/>
            <a:ext cx="4023360" cy="365760"/>
          </a:xfrm>
          <a:prstGeom prst="rect">
            <a:avLst/>
          </a:prstGeom>
          <a:noFill/>
          <a:ln/>
        </p:spPr>
        <p:txBody>
          <a:bodyPr wrap="square" rtlCol="0" anchor="ctr"/>
          <a:lstStyle/>
          <a:p>
            <a:pPr algn="ctr" indent="0" marL="0">
              <a:buNone/>
            </a:pPr>
            <a:r>
              <a:rPr lang="en-US" sz="1600" i="1" dirty="0">
                <a:solidFill>
                  <a:srgbClr val="CADCFC"/>
                </a:solidFill>
                <a:latin typeface="Calibri" pitchFamily="34" charset="0"/>
                <a:ea typeface="Calibri" pitchFamily="34" charset="-122"/>
                <a:cs typeface="Calibri" pitchFamily="34" charset="-120"/>
              </a:rPr>
              <a:t>hallucinated rule indices</a:t>
            </a:r>
            <a:endParaRPr lang="en-US" sz="1600" dirty="0"/>
          </a:p>
        </p:txBody>
      </p:sp>
      <p:sp>
        <p:nvSpPr>
          <p:cNvPr id="12" name="Text 10"/>
          <p:cNvSpPr/>
          <p:nvPr/>
        </p:nvSpPr>
        <p:spPr>
          <a:xfrm>
            <a:off x="7680960" y="2560320"/>
            <a:ext cx="4023360" cy="2011680"/>
          </a:xfrm>
          <a:prstGeom prst="rect">
            <a:avLst/>
          </a:prstGeom>
          <a:noFill/>
          <a:ln/>
        </p:spPr>
        <p:txBody>
          <a:bodyPr wrap="square" rtlCol="0" anchor="ctr"/>
          <a:lstStyle/>
          <a:p>
            <a:pPr algn="ctr" indent="0" marL="0">
              <a:buNone/>
            </a:pPr>
            <a:r>
              <a:rPr lang="en-US" sz="20000" b="1" dirty="0">
                <a:solidFill>
                  <a:srgbClr val="FFFFFF"/>
                </a:solidFill>
                <a:latin typeface="Georgia" pitchFamily="34" charset="0"/>
                <a:ea typeface="Georgia" pitchFamily="34" charset="-122"/>
                <a:cs typeface="Georgia" pitchFamily="34" charset="-120"/>
              </a:rPr>
              <a:t>0</a:t>
            </a:r>
            <a:endParaRPr lang="en-US" sz="20000" dirty="0"/>
          </a:p>
        </p:txBody>
      </p:sp>
      <p:sp>
        <p:nvSpPr>
          <p:cNvPr id="13" name="Text 11"/>
          <p:cNvSpPr/>
          <p:nvPr/>
        </p:nvSpPr>
        <p:spPr>
          <a:xfrm>
            <a:off x="7680960" y="4572000"/>
            <a:ext cx="4023360" cy="457200"/>
          </a:xfrm>
          <a:prstGeom prst="rect">
            <a:avLst/>
          </a:prstGeom>
          <a:noFill/>
          <a:ln/>
        </p:spPr>
        <p:txBody>
          <a:bodyPr wrap="square" rtlCol="0" anchor="ctr"/>
          <a:lstStyle/>
          <a:p>
            <a:pPr algn="ctr" indent="0" marL="0">
              <a:buNone/>
            </a:pPr>
            <a:r>
              <a:rPr lang="en-US" sz="1800" dirty="0">
                <a:solidFill>
                  <a:srgbClr val="CADCFC"/>
                </a:solidFill>
                <a:latin typeface="Calibri" pitchFamily="34" charset="0"/>
                <a:ea typeface="Calibri" pitchFamily="34" charset="-122"/>
                <a:cs typeface="Calibri" pitchFamily="34" charset="-120"/>
              </a:rPr>
              <a:t>/ 13 enrichments</a:t>
            </a:r>
            <a:endParaRPr lang="en-US" sz="1800" dirty="0"/>
          </a:p>
        </p:txBody>
      </p:sp>
      <p:sp>
        <p:nvSpPr>
          <p:cNvPr id="14" name="Text 12"/>
          <p:cNvSpPr/>
          <p:nvPr/>
        </p:nvSpPr>
        <p:spPr>
          <a:xfrm>
            <a:off x="7680960" y="5120640"/>
            <a:ext cx="4023360" cy="365760"/>
          </a:xfrm>
          <a:prstGeom prst="rect">
            <a:avLst/>
          </a:prstGeom>
          <a:noFill/>
          <a:ln/>
        </p:spPr>
        <p:txBody>
          <a:bodyPr wrap="square" rtlCol="0" anchor="ctr"/>
          <a:lstStyle/>
          <a:p>
            <a:pPr algn="ctr" indent="0" marL="0">
              <a:buNone/>
            </a:pPr>
            <a:r>
              <a:rPr lang="en-US" sz="1400" i="1" dirty="0">
                <a:solidFill>
                  <a:srgbClr val="CADCFC"/>
                </a:solidFill>
                <a:latin typeface="Calibri" pitchFamily="34" charset="0"/>
                <a:ea typeface="Calibri" pitchFamily="34" charset="-122"/>
                <a:cs typeface="Calibri" pitchFamily="34" charset="-120"/>
              </a:rPr>
              <a:t>Anthropic · flawed-ruleset.txt</a:t>
            </a:r>
            <a:endParaRPr lang="en-US" sz="1400" dirty="0"/>
          </a:p>
        </p:txBody>
      </p:sp>
      <p:sp>
        <p:nvSpPr>
          <p:cNvPr id="15" name="Text 13"/>
          <p:cNvSpPr/>
          <p:nvPr/>
        </p:nvSpPr>
        <p:spPr>
          <a:xfrm>
            <a:off x="457200" y="6446520"/>
            <a:ext cx="3657600" cy="274320"/>
          </a:xfrm>
          <a:prstGeom prst="rect">
            <a:avLst/>
          </a:prstGeom>
          <a:noFill/>
          <a:ln/>
        </p:spPr>
        <p:txBody>
          <a:bodyPr wrap="square" rtlCol="0" anchor="ctr"/>
          <a:lstStyle/>
          <a:p>
            <a:pPr indent="0" marL="0">
              <a:buNone/>
            </a:pPr>
            <a:r>
              <a:rPr lang="en-US" sz="1000" i="1" dirty="0">
                <a:solidFill>
                  <a:srgbClr val="5A6378"/>
                </a:solidFill>
                <a:latin typeface="Calibri" pitchFamily="34" charset="0"/>
                <a:ea typeface="Calibri" pitchFamily="34" charset="-122"/>
                <a:cs typeface="Calibri" pitchFamily="34" charset="-120"/>
              </a:rPr>
              <a:t>shaerlock · ENPM693</a:t>
            </a:r>
            <a:endParaRPr lang="en-US" sz="1000" dirty="0"/>
          </a:p>
        </p:txBody>
      </p:sp>
      <p:sp>
        <p:nvSpPr>
          <p:cNvPr id="16" name="Text 14"/>
          <p:cNvSpPr/>
          <p:nvPr/>
        </p:nvSpPr>
        <p:spPr>
          <a:xfrm>
            <a:off x="11274552" y="6446520"/>
            <a:ext cx="73152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7 / 11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B"/>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2761"/>
          </a:solidFill>
          <a:ln/>
        </p:spPr>
      </p:sp>
      <p:sp>
        <p:nvSpPr>
          <p:cNvPr id="3" name="Shape 1"/>
          <p:cNvSpPr/>
          <p:nvPr/>
        </p:nvSpPr>
        <p:spPr>
          <a:xfrm>
            <a:off x="457200" y="411480"/>
            <a:ext cx="320040" cy="320040"/>
          </a:xfrm>
          <a:prstGeom prst="ellipse">
            <a:avLst/>
          </a:prstGeom>
          <a:solidFill>
            <a:srgbClr val="1E2761"/>
          </a:solidFill>
          <a:ln w="12700">
            <a:solidFill>
              <a:srgbClr val="1E2761"/>
            </a:solidFill>
            <a:prstDash val="solid"/>
          </a:ln>
        </p:spPr>
      </p:sp>
      <p:sp>
        <p:nvSpPr>
          <p:cNvPr id="4" name="Text 2"/>
          <p:cNvSpPr/>
          <p:nvPr/>
        </p:nvSpPr>
        <p:spPr>
          <a:xfrm>
            <a:off x="457200" y="411480"/>
            <a:ext cx="320040" cy="32004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5" name="Text 3"/>
          <p:cNvSpPr/>
          <p:nvPr/>
        </p:nvSpPr>
        <p:spPr>
          <a:xfrm>
            <a:off x="868680" y="384048"/>
            <a:ext cx="7315200" cy="365760"/>
          </a:xfrm>
          <a:prstGeom prst="rect">
            <a:avLst/>
          </a:prstGeom>
          <a:noFill/>
          <a:ln/>
        </p:spPr>
        <p:txBody>
          <a:bodyPr wrap="square" rtlCol="0" anchor="ctr"/>
          <a:lstStyle/>
          <a:p>
            <a:pPr indent="0" marL="0">
              <a:buNone/>
            </a:pPr>
            <a:r>
              <a:rPr lang="en-US" sz="1400" b="1" spc="200" kern="0" dirty="0">
                <a:solidFill>
                  <a:srgbClr val="5A6378"/>
                </a:solidFill>
                <a:latin typeface="Calibri" pitchFamily="34" charset="0"/>
                <a:ea typeface="Calibri" pitchFamily="34" charset="-122"/>
                <a:cs typeface="Calibri" pitchFamily="34" charset="-120"/>
              </a:rPr>
              <a:t>EVALUATION</a:t>
            </a:r>
            <a:endParaRPr lang="en-US" sz="1400" dirty="0"/>
          </a:p>
        </p:txBody>
      </p:sp>
      <p:sp>
        <p:nvSpPr>
          <p:cNvPr id="6" name="Text 4"/>
          <p:cNvSpPr/>
          <p:nvPr/>
        </p:nvSpPr>
        <p:spPr>
          <a:xfrm>
            <a:off x="457200" y="777240"/>
            <a:ext cx="11274552" cy="960120"/>
          </a:xfrm>
          <a:prstGeom prst="rect">
            <a:avLst/>
          </a:prstGeom>
          <a:noFill/>
          <a:ln/>
        </p:spPr>
        <p:txBody>
          <a:bodyPr wrap="square" rtlCol="0" anchor="ctr"/>
          <a:lstStyle/>
          <a:p>
            <a:pPr indent="0" marL="0">
              <a:buNone/>
            </a:pPr>
            <a:r>
              <a:rPr lang="en-US" sz="3200" b="1" dirty="0">
                <a:solidFill>
                  <a:srgbClr val="1E2761"/>
                </a:solidFill>
                <a:latin typeface="Georgia" pitchFamily="34" charset="0"/>
                <a:ea typeface="Georgia" pitchFamily="34" charset="-122"/>
                <a:cs typeface="Georgia" pitchFamily="34" charset="-120"/>
              </a:rPr>
              <a:t>100% recall on planted defects, zero hallucinations, zero false positives.</a:t>
            </a:r>
            <a:endParaRPr lang="en-US" sz="3200" dirty="0"/>
          </a:p>
        </p:txBody>
      </p:sp>
      <p:sp>
        <p:nvSpPr>
          <p:cNvPr id="7" name="Shape 5"/>
          <p:cNvSpPr/>
          <p:nvPr/>
        </p:nvSpPr>
        <p:spPr>
          <a:xfrm>
            <a:off x="457200" y="2011680"/>
            <a:ext cx="3566160" cy="2743200"/>
          </a:xfrm>
          <a:prstGeom prst="roundRect">
            <a:avLst>
              <a:gd name="adj" fmla="val 4000"/>
            </a:avLst>
          </a:prstGeom>
          <a:solidFill>
            <a:srgbClr val="FFFFFF"/>
          </a:solidFill>
          <a:ln w="25400">
            <a:solidFill>
              <a:srgbClr val="1E2761"/>
            </a:solidFill>
            <a:prstDash val="solid"/>
          </a:ln>
        </p:spPr>
      </p:sp>
      <p:sp>
        <p:nvSpPr>
          <p:cNvPr id="8" name="Shape 6"/>
          <p:cNvSpPr/>
          <p:nvPr/>
        </p:nvSpPr>
        <p:spPr>
          <a:xfrm>
            <a:off x="457200" y="2148840"/>
            <a:ext cx="109728" cy="2468880"/>
          </a:xfrm>
          <a:prstGeom prst="rect">
            <a:avLst/>
          </a:prstGeom>
          <a:solidFill>
            <a:srgbClr val="1E2761"/>
          </a:solidFill>
          <a:ln w="12700">
            <a:solidFill>
              <a:srgbClr val="1E2761"/>
            </a:solidFill>
            <a:prstDash val="solid"/>
          </a:ln>
        </p:spPr>
      </p:sp>
      <p:sp>
        <p:nvSpPr>
          <p:cNvPr id="9" name="Text 7"/>
          <p:cNvSpPr/>
          <p:nvPr/>
        </p:nvSpPr>
        <p:spPr>
          <a:xfrm>
            <a:off x="457200" y="2377440"/>
            <a:ext cx="3566160" cy="1371600"/>
          </a:xfrm>
          <a:prstGeom prst="rect">
            <a:avLst/>
          </a:prstGeom>
          <a:noFill/>
          <a:ln/>
        </p:spPr>
        <p:txBody>
          <a:bodyPr wrap="square" rtlCol="0" anchor="ctr"/>
          <a:lstStyle/>
          <a:p>
            <a:pPr algn="ctr" indent="0" marL="0">
              <a:buNone/>
            </a:pPr>
            <a:r>
              <a:rPr lang="en-US" sz="6000" b="1" dirty="0">
                <a:solidFill>
                  <a:srgbClr val="1E2761"/>
                </a:solidFill>
                <a:latin typeface="Georgia" pitchFamily="34" charset="0"/>
                <a:ea typeface="Georgia" pitchFamily="34" charset="-122"/>
                <a:cs typeface="Georgia" pitchFamily="34" charset="-120"/>
              </a:rPr>
              <a:t>100%</a:t>
            </a:r>
            <a:endParaRPr lang="en-US" sz="6000" dirty="0"/>
          </a:p>
        </p:txBody>
      </p:sp>
      <p:sp>
        <p:nvSpPr>
          <p:cNvPr id="10" name="Text 8"/>
          <p:cNvSpPr/>
          <p:nvPr/>
        </p:nvSpPr>
        <p:spPr>
          <a:xfrm>
            <a:off x="457200" y="3794760"/>
            <a:ext cx="3566160" cy="457200"/>
          </a:xfrm>
          <a:prstGeom prst="rect">
            <a:avLst/>
          </a:prstGeom>
          <a:noFill/>
          <a:ln/>
        </p:spPr>
        <p:txBody>
          <a:bodyPr wrap="square" rtlCol="0" anchor="ctr"/>
          <a:lstStyle/>
          <a:p>
            <a:pPr algn="ctr" indent="0" marL="0">
              <a:buNone/>
            </a:pPr>
            <a:r>
              <a:rPr lang="en-US" sz="1800" b="1" dirty="0">
                <a:solidFill>
                  <a:srgbClr val="F96167"/>
                </a:solidFill>
                <a:latin typeface="Calibri" pitchFamily="34" charset="0"/>
                <a:ea typeface="Calibri" pitchFamily="34" charset="-122"/>
                <a:cs typeface="Calibri" pitchFamily="34" charset="-120"/>
              </a:rPr>
              <a:t>Recall</a:t>
            </a:r>
            <a:endParaRPr lang="en-US" sz="1800" dirty="0"/>
          </a:p>
        </p:txBody>
      </p:sp>
      <p:sp>
        <p:nvSpPr>
          <p:cNvPr id="11" name="Text 9"/>
          <p:cNvSpPr/>
          <p:nvPr/>
        </p:nvSpPr>
        <p:spPr>
          <a:xfrm>
            <a:off x="640080" y="4251960"/>
            <a:ext cx="3200400" cy="457200"/>
          </a:xfrm>
          <a:prstGeom prst="rect">
            <a:avLst/>
          </a:prstGeom>
          <a:noFill/>
          <a:ln/>
        </p:spPr>
        <p:txBody>
          <a:bodyPr wrap="square" rtlCol="0" anchor="ctr"/>
          <a:lstStyle/>
          <a:p>
            <a:pPr algn="ctr" indent="0" marL="0">
              <a:buNone/>
            </a:pPr>
            <a:r>
              <a:rPr lang="en-US" sz="1600" i="1" dirty="0">
                <a:solidFill>
                  <a:srgbClr val="5A6378"/>
                </a:solidFill>
                <a:latin typeface="Calibri" pitchFamily="34" charset="0"/>
                <a:ea typeface="Calibri" pitchFamily="34" charset="-122"/>
                <a:cs typeface="Calibri" pitchFamily="34" charset="-120"/>
              </a:rPr>
              <a:t>5 of 5 planted defects</a:t>
            </a:r>
            <a:endParaRPr lang="en-US" sz="1600" dirty="0"/>
          </a:p>
        </p:txBody>
      </p:sp>
      <p:sp>
        <p:nvSpPr>
          <p:cNvPr id="12" name="Shape 10"/>
          <p:cNvSpPr/>
          <p:nvPr/>
        </p:nvSpPr>
        <p:spPr>
          <a:xfrm>
            <a:off x="4251960" y="2011680"/>
            <a:ext cx="3566160" cy="2743200"/>
          </a:xfrm>
          <a:prstGeom prst="roundRect">
            <a:avLst>
              <a:gd name="adj" fmla="val 4000"/>
            </a:avLst>
          </a:prstGeom>
          <a:solidFill>
            <a:srgbClr val="FFFFFF"/>
          </a:solidFill>
          <a:ln w="25400">
            <a:solidFill>
              <a:srgbClr val="1E2761"/>
            </a:solidFill>
            <a:prstDash val="solid"/>
          </a:ln>
        </p:spPr>
      </p:sp>
      <p:sp>
        <p:nvSpPr>
          <p:cNvPr id="13" name="Shape 11"/>
          <p:cNvSpPr/>
          <p:nvPr/>
        </p:nvSpPr>
        <p:spPr>
          <a:xfrm>
            <a:off x="4251960" y="2148840"/>
            <a:ext cx="109728" cy="2468880"/>
          </a:xfrm>
          <a:prstGeom prst="rect">
            <a:avLst/>
          </a:prstGeom>
          <a:solidFill>
            <a:srgbClr val="F96167"/>
          </a:solidFill>
          <a:ln w="12700">
            <a:solidFill>
              <a:srgbClr val="F96167"/>
            </a:solidFill>
            <a:prstDash val="solid"/>
          </a:ln>
        </p:spPr>
      </p:sp>
      <p:sp>
        <p:nvSpPr>
          <p:cNvPr id="14" name="Text 12"/>
          <p:cNvSpPr/>
          <p:nvPr/>
        </p:nvSpPr>
        <p:spPr>
          <a:xfrm>
            <a:off x="4251960" y="2377440"/>
            <a:ext cx="3566160" cy="1371600"/>
          </a:xfrm>
          <a:prstGeom prst="rect">
            <a:avLst/>
          </a:prstGeom>
          <a:noFill/>
          <a:ln/>
        </p:spPr>
        <p:txBody>
          <a:bodyPr wrap="square" rtlCol="0" anchor="ctr"/>
          <a:lstStyle/>
          <a:p>
            <a:pPr algn="ctr" indent="0" marL="0">
              <a:buNone/>
            </a:pPr>
            <a:r>
              <a:rPr lang="en-US" sz="6000" b="1" dirty="0">
                <a:solidFill>
                  <a:srgbClr val="1E2761"/>
                </a:solidFill>
                <a:latin typeface="Georgia" pitchFamily="34" charset="0"/>
                <a:ea typeface="Georgia" pitchFamily="34" charset="-122"/>
                <a:cs typeface="Georgia" pitchFamily="34" charset="-120"/>
              </a:rPr>
              <a:t>0 / 13</a:t>
            </a:r>
            <a:endParaRPr lang="en-US" sz="6000" dirty="0"/>
          </a:p>
        </p:txBody>
      </p:sp>
      <p:sp>
        <p:nvSpPr>
          <p:cNvPr id="15" name="Text 13"/>
          <p:cNvSpPr/>
          <p:nvPr/>
        </p:nvSpPr>
        <p:spPr>
          <a:xfrm>
            <a:off x="4251960" y="3794760"/>
            <a:ext cx="3566160" cy="457200"/>
          </a:xfrm>
          <a:prstGeom prst="rect">
            <a:avLst/>
          </a:prstGeom>
          <a:noFill/>
          <a:ln/>
        </p:spPr>
        <p:txBody>
          <a:bodyPr wrap="square" rtlCol="0" anchor="ctr"/>
          <a:lstStyle/>
          <a:p>
            <a:pPr algn="ctr" indent="0" marL="0">
              <a:buNone/>
            </a:pPr>
            <a:r>
              <a:rPr lang="en-US" sz="1800" b="1" dirty="0">
                <a:solidFill>
                  <a:srgbClr val="F96167"/>
                </a:solidFill>
                <a:latin typeface="Calibri" pitchFamily="34" charset="0"/>
                <a:ea typeface="Calibri" pitchFamily="34" charset="-122"/>
                <a:cs typeface="Calibri" pitchFamily="34" charset="-120"/>
              </a:rPr>
              <a:t>Hallucinations</a:t>
            </a:r>
            <a:endParaRPr lang="en-US" sz="1800" dirty="0"/>
          </a:p>
        </p:txBody>
      </p:sp>
      <p:sp>
        <p:nvSpPr>
          <p:cNvPr id="16" name="Text 14"/>
          <p:cNvSpPr/>
          <p:nvPr/>
        </p:nvSpPr>
        <p:spPr>
          <a:xfrm>
            <a:off x="4434840" y="4251960"/>
            <a:ext cx="3200400" cy="457200"/>
          </a:xfrm>
          <a:prstGeom prst="rect">
            <a:avLst/>
          </a:prstGeom>
          <a:noFill/>
          <a:ln/>
        </p:spPr>
        <p:txBody>
          <a:bodyPr wrap="square" rtlCol="0" anchor="ctr"/>
          <a:lstStyle/>
          <a:p>
            <a:pPr algn="ctr" indent="0" marL="0">
              <a:buNone/>
            </a:pPr>
            <a:r>
              <a:rPr lang="en-US" sz="1600" i="1" dirty="0">
                <a:solidFill>
                  <a:srgbClr val="5A6378"/>
                </a:solidFill>
                <a:latin typeface="Calibri" pitchFamily="34" charset="0"/>
                <a:ea typeface="Calibri" pitchFamily="34" charset="-122"/>
                <a:cs typeface="Calibri" pitchFamily="34" charset="-120"/>
              </a:rPr>
              <a:t>no invented rule indices</a:t>
            </a:r>
            <a:endParaRPr lang="en-US" sz="1600" dirty="0"/>
          </a:p>
        </p:txBody>
      </p:sp>
      <p:sp>
        <p:nvSpPr>
          <p:cNvPr id="17" name="Shape 15"/>
          <p:cNvSpPr/>
          <p:nvPr/>
        </p:nvSpPr>
        <p:spPr>
          <a:xfrm>
            <a:off x="8046720" y="2011680"/>
            <a:ext cx="3566160" cy="2743200"/>
          </a:xfrm>
          <a:prstGeom prst="roundRect">
            <a:avLst>
              <a:gd name="adj" fmla="val 4000"/>
            </a:avLst>
          </a:prstGeom>
          <a:solidFill>
            <a:srgbClr val="FFFFFF"/>
          </a:solidFill>
          <a:ln w="25400">
            <a:solidFill>
              <a:srgbClr val="1E2761"/>
            </a:solidFill>
            <a:prstDash val="solid"/>
          </a:ln>
        </p:spPr>
      </p:sp>
      <p:sp>
        <p:nvSpPr>
          <p:cNvPr id="18" name="Shape 16"/>
          <p:cNvSpPr/>
          <p:nvPr/>
        </p:nvSpPr>
        <p:spPr>
          <a:xfrm>
            <a:off x="8046720" y="2148840"/>
            <a:ext cx="109728" cy="2468880"/>
          </a:xfrm>
          <a:prstGeom prst="rect">
            <a:avLst/>
          </a:prstGeom>
          <a:solidFill>
            <a:srgbClr val="1E2761"/>
          </a:solidFill>
          <a:ln w="12700">
            <a:solidFill>
              <a:srgbClr val="1E2761"/>
            </a:solidFill>
            <a:prstDash val="solid"/>
          </a:ln>
        </p:spPr>
      </p:sp>
      <p:sp>
        <p:nvSpPr>
          <p:cNvPr id="19" name="Text 17"/>
          <p:cNvSpPr/>
          <p:nvPr/>
        </p:nvSpPr>
        <p:spPr>
          <a:xfrm>
            <a:off x="8046720" y="2377440"/>
            <a:ext cx="3566160" cy="1371600"/>
          </a:xfrm>
          <a:prstGeom prst="rect">
            <a:avLst/>
          </a:prstGeom>
          <a:noFill/>
          <a:ln/>
        </p:spPr>
        <p:txBody>
          <a:bodyPr wrap="square" rtlCol="0" anchor="ctr"/>
          <a:lstStyle/>
          <a:p>
            <a:pPr algn="ctr" indent="0" marL="0">
              <a:buNone/>
            </a:pPr>
            <a:r>
              <a:rPr lang="en-US" sz="6000" b="1" dirty="0">
                <a:solidFill>
                  <a:srgbClr val="1E2761"/>
                </a:solidFill>
                <a:latin typeface="Georgia" pitchFamily="34" charset="0"/>
                <a:ea typeface="Georgia" pitchFamily="34" charset="-122"/>
                <a:cs typeface="Georgia" pitchFamily="34" charset="-120"/>
              </a:rPr>
              <a:t>0</a:t>
            </a:r>
            <a:endParaRPr lang="en-US" sz="6000" dirty="0"/>
          </a:p>
        </p:txBody>
      </p:sp>
      <p:sp>
        <p:nvSpPr>
          <p:cNvPr id="20" name="Text 18"/>
          <p:cNvSpPr/>
          <p:nvPr/>
        </p:nvSpPr>
        <p:spPr>
          <a:xfrm>
            <a:off x="8046720" y="3794760"/>
            <a:ext cx="3566160" cy="457200"/>
          </a:xfrm>
          <a:prstGeom prst="rect">
            <a:avLst/>
          </a:prstGeom>
          <a:noFill/>
          <a:ln/>
        </p:spPr>
        <p:txBody>
          <a:bodyPr wrap="square" rtlCol="0" anchor="ctr"/>
          <a:lstStyle/>
          <a:p>
            <a:pPr algn="ctr" indent="0" marL="0">
              <a:buNone/>
            </a:pPr>
            <a:r>
              <a:rPr lang="en-US" sz="1800" b="1" dirty="0">
                <a:solidFill>
                  <a:srgbClr val="F96167"/>
                </a:solidFill>
                <a:latin typeface="Calibri" pitchFamily="34" charset="0"/>
                <a:ea typeface="Calibri" pitchFamily="34" charset="-122"/>
                <a:cs typeface="Calibri" pitchFamily="34" charset="-120"/>
              </a:rPr>
              <a:t>False positives</a:t>
            </a:r>
            <a:endParaRPr lang="en-US" sz="1800" dirty="0"/>
          </a:p>
        </p:txBody>
      </p:sp>
      <p:sp>
        <p:nvSpPr>
          <p:cNvPr id="21" name="Text 19"/>
          <p:cNvSpPr/>
          <p:nvPr/>
        </p:nvSpPr>
        <p:spPr>
          <a:xfrm>
            <a:off x="8229600" y="4251960"/>
            <a:ext cx="3200400" cy="457200"/>
          </a:xfrm>
          <a:prstGeom prst="rect">
            <a:avLst/>
          </a:prstGeom>
          <a:noFill/>
          <a:ln/>
        </p:spPr>
        <p:txBody>
          <a:bodyPr wrap="square" rtlCol="0" anchor="ctr"/>
          <a:lstStyle/>
          <a:p>
            <a:pPr algn="ctr" indent="0" marL="0">
              <a:buNone/>
            </a:pPr>
            <a:r>
              <a:rPr lang="en-US" sz="1600" i="1" dirty="0">
                <a:solidFill>
                  <a:srgbClr val="5A6378"/>
                </a:solidFill>
                <a:latin typeface="Calibri" pitchFamily="34" charset="0"/>
                <a:ea typeface="Calibri" pitchFamily="34" charset="-122"/>
                <a:cs typeface="Calibri" pitchFamily="34" charset="-120"/>
              </a:rPr>
              <a:t>on clean control ruleset</a:t>
            </a:r>
            <a:endParaRPr lang="en-US" sz="1600" dirty="0"/>
          </a:p>
        </p:txBody>
      </p:sp>
      <p:sp>
        <p:nvSpPr>
          <p:cNvPr id="22" name="Text 20"/>
          <p:cNvSpPr/>
          <p:nvPr/>
        </p:nvSpPr>
        <p:spPr>
          <a:xfrm>
            <a:off x="457200" y="5029200"/>
            <a:ext cx="11247120" cy="320040"/>
          </a:xfrm>
          <a:prstGeom prst="rect">
            <a:avLst/>
          </a:prstGeom>
          <a:noFill/>
          <a:ln/>
        </p:spPr>
        <p:txBody>
          <a:bodyPr wrap="square" rtlCol="0" anchor="ctr"/>
          <a:lstStyle/>
          <a:p>
            <a:pPr indent="0" marL="0">
              <a:buNone/>
            </a:pPr>
            <a:r>
              <a:rPr lang="en-US" sz="1400" i="1" dirty="0">
                <a:solidFill>
                  <a:srgbClr val="5A6378"/>
                </a:solidFill>
                <a:latin typeface="Calibri" pitchFamily="34" charset="0"/>
                <a:ea typeface="Calibri" pitchFamily="34" charset="-122"/>
                <a:cs typeface="Calibri" pitchFamily="34" charset="-120"/>
              </a:rPr>
              <a:t>Severity distribution (13 LLM enrichments)</a:t>
            </a:r>
            <a:endParaRPr lang="en-US" sz="1400" dirty="0"/>
          </a:p>
        </p:txBody>
      </p:sp>
      <p:sp>
        <p:nvSpPr>
          <p:cNvPr id="23" name="Shape 21"/>
          <p:cNvSpPr/>
          <p:nvPr/>
        </p:nvSpPr>
        <p:spPr>
          <a:xfrm>
            <a:off x="457200" y="5394960"/>
            <a:ext cx="3460652" cy="457200"/>
          </a:xfrm>
          <a:prstGeom prst="rect">
            <a:avLst/>
          </a:prstGeom>
          <a:solidFill>
            <a:srgbClr val="F96167"/>
          </a:solidFill>
          <a:ln w="12700">
            <a:solidFill>
              <a:srgbClr val="F96167"/>
            </a:solidFill>
            <a:prstDash val="solid"/>
          </a:ln>
        </p:spPr>
      </p:sp>
      <p:sp>
        <p:nvSpPr>
          <p:cNvPr id="24" name="Text 22"/>
          <p:cNvSpPr/>
          <p:nvPr/>
        </p:nvSpPr>
        <p:spPr>
          <a:xfrm>
            <a:off x="457200" y="5394960"/>
            <a:ext cx="3460652"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HIGH 4</a:t>
            </a:r>
            <a:endParaRPr lang="en-US" sz="1400" dirty="0"/>
          </a:p>
        </p:txBody>
      </p:sp>
      <p:sp>
        <p:nvSpPr>
          <p:cNvPr id="25" name="Shape 23"/>
          <p:cNvSpPr/>
          <p:nvPr/>
        </p:nvSpPr>
        <p:spPr>
          <a:xfrm>
            <a:off x="3917852" y="5394960"/>
            <a:ext cx="6921305" cy="457200"/>
          </a:xfrm>
          <a:prstGeom prst="rect">
            <a:avLst/>
          </a:prstGeom>
          <a:solidFill>
            <a:srgbClr val="1E2761"/>
          </a:solidFill>
          <a:ln w="12700">
            <a:solidFill>
              <a:srgbClr val="1E2761"/>
            </a:solidFill>
            <a:prstDash val="solid"/>
          </a:ln>
        </p:spPr>
      </p:sp>
      <p:sp>
        <p:nvSpPr>
          <p:cNvPr id="26" name="Text 24"/>
          <p:cNvSpPr/>
          <p:nvPr/>
        </p:nvSpPr>
        <p:spPr>
          <a:xfrm>
            <a:off x="3917852" y="5394960"/>
            <a:ext cx="6921305"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MEDIUM 8</a:t>
            </a:r>
            <a:endParaRPr lang="en-US" sz="1400" dirty="0"/>
          </a:p>
        </p:txBody>
      </p:sp>
      <p:sp>
        <p:nvSpPr>
          <p:cNvPr id="27" name="Shape 25"/>
          <p:cNvSpPr/>
          <p:nvPr/>
        </p:nvSpPr>
        <p:spPr>
          <a:xfrm>
            <a:off x="10839157" y="5394960"/>
            <a:ext cx="865163" cy="457200"/>
          </a:xfrm>
          <a:prstGeom prst="rect">
            <a:avLst/>
          </a:prstGeom>
          <a:solidFill>
            <a:srgbClr val="CADCFC"/>
          </a:solidFill>
          <a:ln w="12700">
            <a:solidFill>
              <a:srgbClr val="CADCFC"/>
            </a:solidFill>
            <a:prstDash val="solid"/>
          </a:ln>
        </p:spPr>
      </p:sp>
      <p:sp>
        <p:nvSpPr>
          <p:cNvPr id="28" name="Text 26"/>
          <p:cNvSpPr/>
          <p:nvPr/>
        </p:nvSpPr>
        <p:spPr>
          <a:xfrm>
            <a:off x="10839157" y="5394960"/>
            <a:ext cx="865163" cy="45720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LOW 1</a:t>
            </a:r>
            <a:endParaRPr lang="en-US" sz="1400" dirty="0"/>
          </a:p>
        </p:txBody>
      </p:sp>
      <p:sp>
        <p:nvSpPr>
          <p:cNvPr id="29" name="Text 27"/>
          <p:cNvSpPr/>
          <p:nvPr/>
        </p:nvSpPr>
        <p:spPr>
          <a:xfrm>
            <a:off x="457200" y="6446520"/>
            <a:ext cx="3657600" cy="274320"/>
          </a:xfrm>
          <a:prstGeom prst="rect">
            <a:avLst/>
          </a:prstGeom>
          <a:noFill/>
          <a:ln/>
        </p:spPr>
        <p:txBody>
          <a:bodyPr wrap="square" rtlCol="0" anchor="ctr"/>
          <a:lstStyle/>
          <a:p>
            <a:pPr indent="0" marL="0">
              <a:buNone/>
            </a:pPr>
            <a:r>
              <a:rPr lang="en-US" sz="1000" i="1" dirty="0">
                <a:solidFill>
                  <a:srgbClr val="5A6378"/>
                </a:solidFill>
                <a:latin typeface="Calibri" pitchFamily="34" charset="0"/>
                <a:ea typeface="Calibri" pitchFamily="34" charset="-122"/>
                <a:cs typeface="Calibri" pitchFamily="34" charset="-120"/>
              </a:rPr>
              <a:t>shaerlock · ENPM693</a:t>
            </a:r>
            <a:endParaRPr lang="en-US" sz="1000" dirty="0"/>
          </a:p>
        </p:txBody>
      </p:sp>
      <p:sp>
        <p:nvSpPr>
          <p:cNvPr id="30" name="Text 28"/>
          <p:cNvSpPr/>
          <p:nvPr/>
        </p:nvSpPr>
        <p:spPr>
          <a:xfrm>
            <a:off x="11274552" y="6446520"/>
            <a:ext cx="73152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8 / 11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B"/>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2761"/>
          </a:solidFill>
          <a:ln/>
        </p:spPr>
      </p:sp>
      <p:sp>
        <p:nvSpPr>
          <p:cNvPr id="3" name="Shape 1"/>
          <p:cNvSpPr/>
          <p:nvPr/>
        </p:nvSpPr>
        <p:spPr>
          <a:xfrm>
            <a:off x="457200" y="411480"/>
            <a:ext cx="320040" cy="320040"/>
          </a:xfrm>
          <a:prstGeom prst="ellipse">
            <a:avLst/>
          </a:prstGeom>
          <a:solidFill>
            <a:srgbClr val="1E2761"/>
          </a:solidFill>
          <a:ln w="12700">
            <a:solidFill>
              <a:srgbClr val="1E2761"/>
            </a:solidFill>
            <a:prstDash val="solid"/>
          </a:ln>
        </p:spPr>
      </p:sp>
      <p:sp>
        <p:nvSpPr>
          <p:cNvPr id="4" name="Text 2"/>
          <p:cNvSpPr/>
          <p:nvPr/>
        </p:nvSpPr>
        <p:spPr>
          <a:xfrm>
            <a:off x="457200" y="411480"/>
            <a:ext cx="320040" cy="32004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5" name="Text 3"/>
          <p:cNvSpPr/>
          <p:nvPr/>
        </p:nvSpPr>
        <p:spPr>
          <a:xfrm>
            <a:off x="868680" y="384048"/>
            <a:ext cx="7315200" cy="365760"/>
          </a:xfrm>
          <a:prstGeom prst="rect">
            <a:avLst/>
          </a:prstGeom>
          <a:noFill/>
          <a:ln/>
        </p:spPr>
        <p:txBody>
          <a:bodyPr wrap="square" rtlCol="0" anchor="ctr"/>
          <a:lstStyle/>
          <a:p>
            <a:pPr indent="0" marL="0">
              <a:buNone/>
            </a:pPr>
            <a:r>
              <a:rPr lang="en-US" sz="1400" b="1" spc="200" kern="0" dirty="0">
                <a:solidFill>
                  <a:srgbClr val="5A6378"/>
                </a:solidFill>
                <a:latin typeface="Calibri" pitchFamily="34" charset="0"/>
                <a:ea typeface="Calibri" pitchFamily="34" charset="-122"/>
                <a:cs typeface="Calibri" pitchFamily="34" charset="-120"/>
              </a:rPr>
              <a:t>DEMO</a:t>
            </a:r>
            <a:endParaRPr lang="en-US" sz="1400" dirty="0"/>
          </a:p>
        </p:txBody>
      </p:sp>
      <p:sp>
        <p:nvSpPr>
          <p:cNvPr id="6" name="Text 4"/>
          <p:cNvSpPr/>
          <p:nvPr/>
        </p:nvSpPr>
        <p:spPr>
          <a:xfrm>
            <a:off x="457200" y="777240"/>
            <a:ext cx="11274552" cy="960120"/>
          </a:xfrm>
          <a:prstGeom prst="rect">
            <a:avLst/>
          </a:prstGeom>
          <a:noFill/>
          <a:ln/>
        </p:spPr>
        <p:txBody>
          <a:bodyPr wrap="square" rtlCol="0" anchor="ctr"/>
          <a:lstStyle/>
          <a:p>
            <a:pPr indent="0" marL="0">
              <a:buNone/>
            </a:pPr>
            <a:r>
              <a:rPr lang="en-US" sz="3200" b="1" dirty="0">
                <a:solidFill>
                  <a:srgbClr val="1E2761"/>
                </a:solidFill>
                <a:latin typeface="Georgia" pitchFamily="34" charset="0"/>
                <a:ea typeface="Georgia" pitchFamily="34" charset="-122"/>
                <a:cs typeface="Georgia" pitchFamily="34" charset="-120"/>
              </a:rPr>
              <a:t>The fragmentation demo reproduces Ptacek-Newsham 1998 on loopback.</a:t>
            </a:r>
            <a:endParaRPr lang="en-US" sz="3200" dirty="0"/>
          </a:p>
        </p:txBody>
      </p:sp>
      <p:sp>
        <p:nvSpPr>
          <p:cNvPr id="7" name="Shape 5"/>
          <p:cNvSpPr/>
          <p:nvPr/>
        </p:nvSpPr>
        <p:spPr>
          <a:xfrm>
            <a:off x="457200" y="2011680"/>
            <a:ext cx="5760720" cy="4023360"/>
          </a:xfrm>
          <a:prstGeom prst="roundRect">
            <a:avLst>
              <a:gd name="adj" fmla="val 2273"/>
            </a:avLst>
          </a:prstGeom>
          <a:solidFill>
            <a:srgbClr val="0A0F2C"/>
          </a:solidFill>
          <a:ln w="12700">
            <a:solidFill>
              <a:srgbClr val="0A0F2C"/>
            </a:solidFill>
            <a:prstDash val="solid"/>
          </a:ln>
        </p:spPr>
      </p:sp>
      <p:sp>
        <p:nvSpPr>
          <p:cNvPr id="8" name="Text 6"/>
          <p:cNvSpPr/>
          <p:nvPr/>
        </p:nvSpPr>
        <p:spPr>
          <a:xfrm>
            <a:off x="640080" y="2103120"/>
            <a:ext cx="5486400" cy="365760"/>
          </a:xfrm>
          <a:prstGeom prst="rect">
            <a:avLst/>
          </a:prstGeom>
          <a:noFill/>
          <a:ln/>
        </p:spPr>
        <p:txBody>
          <a:bodyPr wrap="square" rtlCol="0" anchor="ctr"/>
          <a:lstStyle/>
          <a:p>
            <a:pPr indent="0" marL="0">
              <a:buNone/>
            </a:pPr>
            <a:r>
              <a:rPr lang="en-US" sz="1400" dirty="0">
                <a:solidFill>
                  <a:srgbClr val="CADCFC"/>
                </a:solidFill>
                <a:latin typeface="Courier New" pitchFamily="34" charset="0"/>
                <a:ea typeface="Courier New" pitchFamily="34" charset="-122"/>
                <a:cs typeface="Courier New" pitchFamily="34" charset="-120"/>
              </a:rPr>
              <a:t>$ shaerlock audit --no-llm flawed-ruleset.txt</a:t>
            </a:r>
            <a:endParaRPr lang="en-US" sz="1400" dirty="0"/>
          </a:p>
        </p:txBody>
      </p:sp>
      <p:sp>
        <p:nvSpPr>
          <p:cNvPr id="9" name="Text 7"/>
          <p:cNvSpPr/>
          <p:nvPr/>
        </p:nvSpPr>
        <p:spPr>
          <a:xfrm>
            <a:off x="640080" y="2514600"/>
            <a:ext cx="5486400" cy="3474720"/>
          </a:xfrm>
          <a:prstGeom prst="rect">
            <a:avLst/>
          </a:prstGeom>
          <a:noFill/>
          <a:ln/>
        </p:spPr>
        <p:txBody>
          <a:bodyPr wrap="square" rtlCol="0" anchor="t"/>
          <a:lstStyle/>
          <a:p>
            <a:pPr indent="0" marL="0">
              <a:buNone/>
            </a:pPr>
            <a:r>
              <a:rPr lang="en-US" sz="1400" dirty="0">
                <a:solidFill>
                  <a:srgbClr val="CADCFC"/>
                </a:solidFill>
                <a:latin typeface="Courier New" pitchFamily="34" charset="0"/>
                <a:ea typeface="Courier New" pitchFamily="34" charset="-122"/>
                <a:cs typeface="Courier New" pitchFamily="34" charset="-120"/>
              </a:rPr>
              <a:t>ruleset: tests/fixtures/flawed-ruleset.txt</a:t>
            </a:r>
            <a:endParaRPr lang="en-US" sz="1400" dirty="0"/>
          </a:p>
          <a:p>
            <a:pPr indent="0" marL="0">
              <a:buNone/>
            </a:pPr>
            <a:r>
              <a:rPr lang="en-US" sz="1400" dirty="0">
                <a:solidFill>
                  <a:srgbClr val="CADCFC"/>
                </a:solidFill>
                <a:latin typeface="Courier New" pitchFamily="34" charset="0"/>
                <a:ea typeface="Courier New" pitchFamily="34" charset="-122"/>
                <a:cs typeface="Courier New" pitchFamily="34" charset="-120"/>
              </a:rPr>
              <a:t>chains : INPUT     rules: 12</a:t>
            </a:r>
            <a:endParaRPr lang="en-US" sz="1400" dirty="0"/>
          </a:p>
          <a:p>
            <a:pPr indent="0" marL="0">
              <a:buNone/>
            </a:pPr>
            <a:endParaRPr lang="en-US" sz="1400" dirty="0"/>
          </a:p>
          <a:p>
            <a:pPr indent="0" marL="0">
              <a:buNone/>
            </a:pPr>
            <a:r>
              <a:rPr lang="en-US" sz="1400" dirty="0">
                <a:solidFill>
                  <a:srgbClr val="CADCFC"/>
                </a:solidFill>
                <a:latin typeface="Courier New" pitchFamily="34" charset="0"/>
                <a:ea typeface="Courier New" pitchFamily="34" charset="-122"/>
                <a:cs typeface="Courier New" pitchFamily="34" charset="-120"/>
              </a:rPr>
              <a:t> class            chain  i   j</a:t>
            </a:r>
            <a:endParaRPr lang="en-US" sz="1400" dirty="0"/>
          </a:p>
          <a:p>
            <a:pPr indent="0" marL="0">
              <a:buNone/>
            </a:pPr>
            <a:r>
              <a:rPr lang="en-US" sz="1400" dirty="0">
                <a:solidFill>
                  <a:srgbClr val="CADCFC"/>
                </a:solidFill>
                <a:latin typeface="Courier New" pitchFamily="34" charset="0"/>
                <a:ea typeface="Courier New" pitchFamily="34" charset="-122"/>
                <a:cs typeface="Courier New" pitchFamily="34" charset="-120"/>
              </a:rPr>
              <a:t> ──────────────   ─────  ─  ──</a:t>
            </a:r>
            <a:endParaRPr lang="en-US" sz="1400" dirty="0"/>
          </a:p>
          <a:p>
            <a:pPr indent="0" marL="0">
              <a:buNone/>
            </a:pPr>
            <a:r>
              <a:rPr lang="en-US" sz="1400" dirty="0">
                <a:solidFill>
                  <a:srgbClr val="CADCFC"/>
                </a:solidFill>
                <a:latin typeface="Courier New" pitchFamily="34" charset="0"/>
                <a:ea typeface="Courier New" pitchFamily="34" charset="-122"/>
                <a:cs typeface="Courier New" pitchFamily="34" charset="-120"/>
              </a:rPr>
              <a:t> REDUNDANCY       INPUT  3   4</a:t>
            </a:r>
            <a:endParaRPr lang="en-US" sz="1400" dirty="0"/>
          </a:p>
          <a:p>
            <a:pPr indent="0" marL="0">
              <a:buNone/>
            </a:pPr>
            <a:r>
              <a:rPr lang="en-US" sz="1400" dirty="0">
                <a:solidFill>
                  <a:srgbClr val="CADCFC"/>
                </a:solidFill>
                <a:latin typeface="Courier New" pitchFamily="34" charset="0"/>
                <a:ea typeface="Courier New" pitchFamily="34" charset="-122"/>
                <a:cs typeface="Courier New" pitchFamily="34" charset="-120"/>
              </a:rPr>
              <a:t> SHADOWING        INPUT  5   6</a:t>
            </a:r>
            <a:endParaRPr lang="en-US" sz="1400" dirty="0"/>
          </a:p>
          <a:p>
            <a:pPr indent="0" marL="0">
              <a:buNone/>
            </a:pPr>
            <a:r>
              <a:rPr lang="en-US" sz="1400" dirty="0">
                <a:solidFill>
                  <a:srgbClr val="CADCFC"/>
                </a:solidFill>
                <a:latin typeface="Courier New" pitchFamily="34" charset="0"/>
                <a:ea typeface="Courier New" pitchFamily="34" charset="-122"/>
                <a:cs typeface="Courier New" pitchFamily="34" charset="-120"/>
              </a:rPr>
              <a:t> CORRELATION      INPUT  7   8</a:t>
            </a:r>
            <a:endParaRPr lang="en-US" sz="1400" dirty="0"/>
          </a:p>
          <a:p>
            <a:pPr indent="0" marL="0">
              <a:buNone/>
            </a:pPr>
            <a:r>
              <a:rPr lang="en-US" sz="1400" dirty="0">
                <a:solidFill>
                  <a:srgbClr val="CADCFC"/>
                </a:solidFill>
                <a:latin typeface="Courier New" pitchFamily="34" charset="0"/>
                <a:ea typeface="Courier New" pitchFamily="34" charset="-122"/>
                <a:cs typeface="Courier New" pitchFamily="34" charset="-120"/>
              </a:rPr>
              <a:t> GENERALIZATION   INPUT 10   9</a:t>
            </a:r>
            <a:endParaRPr lang="en-US" sz="1400" dirty="0"/>
          </a:p>
          <a:p>
            <a:pPr indent="0" marL="0">
              <a:buNone/>
            </a:pPr>
            <a:r>
              <a:rPr lang="en-US" sz="1400" dirty="0">
                <a:solidFill>
                  <a:srgbClr val="CADCFC"/>
                </a:solidFill>
                <a:latin typeface="Courier New" pitchFamily="34" charset="0"/>
                <a:ea typeface="Courier New" pitchFamily="34" charset="-122"/>
                <a:cs typeface="Courier New" pitchFamily="34" charset="-120"/>
              </a:rPr>
              <a:t> SHADOWING        INPUT 11  12</a:t>
            </a:r>
            <a:endParaRPr lang="en-US" sz="1400" dirty="0"/>
          </a:p>
          <a:p>
            <a:pPr indent="0" marL="0">
              <a:buNone/>
            </a:pPr>
            <a:r>
              <a:rPr lang="en-US" sz="1400" dirty="0">
                <a:solidFill>
                  <a:srgbClr val="CADCFC"/>
                </a:solidFill>
                <a:latin typeface="Courier New" pitchFamily="34" charset="0"/>
                <a:ea typeface="Courier New" pitchFamily="34" charset="-122"/>
                <a:cs typeface="Courier New" pitchFamily="34" charset="-120"/>
              </a:rPr>
              <a:t> …  13 findings  ·  0 false negatives</a:t>
            </a:r>
            <a:endParaRPr lang="en-US" sz="1400" dirty="0"/>
          </a:p>
        </p:txBody>
      </p:sp>
      <p:sp>
        <p:nvSpPr>
          <p:cNvPr id="10" name="Shape 8"/>
          <p:cNvSpPr/>
          <p:nvPr/>
        </p:nvSpPr>
        <p:spPr>
          <a:xfrm>
            <a:off x="6400800" y="2011680"/>
            <a:ext cx="5303520" cy="4023360"/>
          </a:xfrm>
          <a:prstGeom prst="roundRect">
            <a:avLst>
              <a:gd name="adj" fmla="val 2273"/>
            </a:avLst>
          </a:prstGeom>
          <a:solidFill>
            <a:srgbClr val="FFFFFF"/>
          </a:solidFill>
          <a:ln w="12700">
            <a:solidFill>
              <a:srgbClr val="E2E5EE"/>
            </a:solidFill>
            <a:prstDash val="solid"/>
          </a:ln>
        </p:spPr>
      </p:sp>
      <p:sp>
        <p:nvSpPr>
          <p:cNvPr id="11" name="Text 9"/>
          <p:cNvSpPr/>
          <p:nvPr/>
        </p:nvSpPr>
        <p:spPr>
          <a:xfrm>
            <a:off x="6583680" y="2103120"/>
            <a:ext cx="4937760" cy="365760"/>
          </a:xfrm>
          <a:prstGeom prst="rect">
            <a:avLst/>
          </a:prstGeom>
          <a:noFill/>
          <a:ln/>
        </p:spPr>
        <p:txBody>
          <a:bodyPr wrap="square" rtlCol="0" anchor="ctr"/>
          <a:lstStyle/>
          <a:p>
            <a:pPr indent="0" marL="0">
              <a:buNone/>
            </a:pPr>
            <a:r>
              <a:rPr lang="en-US" sz="1400" dirty="0">
                <a:solidFill>
                  <a:srgbClr val="1E2761"/>
                </a:solidFill>
                <a:latin typeface="Courier New" pitchFamily="34" charset="0"/>
                <a:ea typeface="Courier New" pitchFamily="34" charset="-122"/>
                <a:cs typeface="Courier New" pitchFamily="34" charset="-120"/>
              </a:rPr>
              <a:t>$ sudo shaerlock demo → frag.pcap</a:t>
            </a:r>
            <a:endParaRPr lang="en-US" sz="1400" dirty="0"/>
          </a:p>
        </p:txBody>
      </p:sp>
      <p:sp>
        <p:nvSpPr>
          <p:cNvPr id="12" name="Shape 10"/>
          <p:cNvSpPr/>
          <p:nvPr/>
        </p:nvSpPr>
        <p:spPr>
          <a:xfrm>
            <a:off x="6583680" y="2651760"/>
            <a:ext cx="4937760" cy="777240"/>
          </a:xfrm>
          <a:prstGeom prst="roundRect">
            <a:avLst>
              <a:gd name="adj" fmla="val 7059"/>
            </a:avLst>
          </a:prstGeom>
          <a:solidFill>
            <a:srgbClr val="CADCFC"/>
          </a:solidFill>
          <a:ln w="19050">
            <a:solidFill>
              <a:srgbClr val="1E2761"/>
            </a:solidFill>
            <a:prstDash val="solid"/>
          </a:ln>
        </p:spPr>
      </p:sp>
      <p:sp>
        <p:nvSpPr>
          <p:cNvPr id="13" name="Text 11"/>
          <p:cNvSpPr/>
          <p:nvPr/>
        </p:nvSpPr>
        <p:spPr>
          <a:xfrm>
            <a:off x="6720840" y="2697480"/>
            <a:ext cx="4754880" cy="365760"/>
          </a:xfrm>
          <a:prstGeom prst="rect">
            <a:avLst/>
          </a:prstGeom>
          <a:noFill/>
          <a:ln/>
        </p:spPr>
        <p:txBody>
          <a:bodyPr wrap="square" rtlCol="0" anchor="ctr"/>
          <a:lstStyle/>
          <a:p>
            <a:pPr indent="0" marL="0">
              <a:buNone/>
            </a:pPr>
            <a:r>
              <a:rPr lang="en-US" sz="1400" b="1" dirty="0">
                <a:solidFill>
                  <a:srgbClr val="1E2761"/>
                </a:solidFill>
                <a:latin typeface="Courier New" pitchFamily="34" charset="0"/>
                <a:ea typeface="Courier New" pitchFamily="34" charset="-122"/>
                <a:cs typeface="Courier New" pitchFamily="34" charset="-120"/>
              </a:rPr>
              <a:t>id=0xBEEF  MF=1  off=0</a:t>
            </a:r>
            <a:endParaRPr lang="en-US" sz="1400" dirty="0"/>
          </a:p>
        </p:txBody>
      </p:sp>
      <p:sp>
        <p:nvSpPr>
          <p:cNvPr id="14" name="Text 12"/>
          <p:cNvSpPr/>
          <p:nvPr/>
        </p:nvSpPr>
        <p:spPr>
          <a:xfrm>
            <a:off x="6720840" y="3035808"/>
            <a:ext cx="4754880" cy="365760"/>
          </a:xfrm>
          <a:prstGeom prst="rect">
            <a:avLst/>
          </a:prstGeom>
          <a:noFill/>
          <a:ln/>
        </p:spPr>
        <p:txBody>
          <a:bodyPr wrap="square" rtlCol="0" anchor="ctr"/>
          <a:lstStyle/>
          <a:p>
            <a:pPr indent="0" marL="0">
              <a:buNone/>
            </a:pPr>
            <a:r>
              <a:rPr lang="en-US" sz="1400" dirty="0">
                <a:solidFill>
                  <a:srgbClr val="5A6378"/>
                </a:solidFill>
                <a:latin typeface="Courier New" pitchFamily="34" charset="0"/>
                <a:ea typeface="Courier New" pitchFamily="34" charset="-122"/>
                <a:cs typeface="Courier New" pitchFamily="34" charset="-120"/>
              </a:rPr>
              <a:t>UDP hdr + AAAAAAAA</a:t>
            </a:r>
            <a:endParaRPr lang="en-US" sz="1400" dirty="0"/>
          </a:p>
        </p:txBody>
      </p:sp>
      <p:sp>
        <p:nvSpPr>
          <p:cNvPr id="15" name="Shape 13"/>
          <p:cNvSpPr/>
          <p:nvPr/>
        </p:nvSpPr>
        <p:spPr>
          <a:xfrm>
            <a:off x="6583680" y="3566160"/>
            <a:ext cx="4937760" cy="777240"/>
          </a:xfrm>
          <a:prstGeom prst="roundRect">
            <a:avLst>
              <a:gd name="adj" fmla="val 7059"/>
            </a:avLst>
          </a:prstGeom>
          <a:solidFill>
            <a:srgbClr val="CADCFC"/>
          </a:solidFill>
          <a:ln w="19050">
            <a:solidFill>
              <a:srgbClr val="1E2761"/>
            </a:solidFill>
            <a:prstDash val="solid"/>
          </a:ln>
        </p:spPr>
      </p:sp>
      <p:sp>
        <p:nvSpPr>
          <p:cNvPr id="16" name="Text 14"/>
          <p:cNvSpPr/>
          <p:nvPr/>
        </p:nvSpPr>
        <p:spPr>
          <a:xfrm>
            <a:off x="6720840" y="3611880"/>
            <a:ext cx="4754880" cy="365760"/>
          </a:xfrm>
          <a:prstGeom prst="rect">
            <a:avLst/>
          </a:prstGeom>
          <a:noFill/>
          <a:ln/>
        </p:spPr>
        <p:txBody>
          <a:bodyPr wrap="square" rtlCol="0" anchor="ctr"/>
          <a:lstStyle/>
          <a:p>
            <a:pPr indent="0" marL="0">
              <a:buNone/>
            </a:pPr>
            <a:r>
              <a:rPr lang="en-US" sz="1400" b="1" dirty="0">
                <a:solidFill>
                  <a:srgbClr val="1E2761"/>
                </a:solidFill>
                <a:latin typeface="Courier New" pitchFamily="34" charset="0"/>
                <a:ea typeface="Courier New" pitchFamily="34" charset="-122"/>
                <a:cs typeface="Courier New" pitchFamily="34" charset="-120"/>
              </a:rPr>
              <a:t>id=0xBEEF  MF=0  off=1</a:t>
            </a:r>
            <a:endParaRPr lang="en-US" sz="1400" dirty="0"/>
          </a:p>
        </p:txBody>
      </p:sp>
      <p:sp>
        <p:nvSpPr>
          <p:cNvPr id="17" name="Text 15"/>
          <p:cNvSpPr/>
          <p:nvPr/>
        </p:nvSpPr>
        <p:spPr>
          <a:xfrm>
            <a:off x="6720840" y="3950208"/>
            <a:ext cx="4754880" cy="365760"/>
          </a:xfrm>
          <a:prstGeom prst="rect">
            <a:avLst/>
          </a:prstGeom>
          <a:noFill/>
          <a:ln/>
        </p:spPr>
        <p:txBody>
          <a:bodyPr wrap="square" rtlCol="0" anchor="ctr"/>
          <a:lstStyle/>
          <a:p>
            <a:pPr indent="0" marL="0">
              <a:buNone/>
            </a:pPr>
            <a:r>
              <a:rPr lang="en-US" sz="1400" dirty="0">
                <a:solidFill>
                  <a:srgbClr val="5A6378"/>
                </a:solidFill>
                <a:latin typeface="Courier New" pitchFamily="34" charset="0"/>
                <a:ea typeface="Courier New" pitchFamily="34" charset="-122"/>
                <a:cs typeface="Courier New" pitchFamily="34" charset="-120"/>
              </a:rPr>
              <a:t>BBBB…BBBB (56 B)</a:t>
            </a:r>
            <a:endParaRPr lang="en-US" sz="1400" dirty="0"/>
          </a:p>
        </p:txBody>
      </p:sp>
      <p:sp>
        <p:nvSpPr>
          <p:cNvPr id="18" name="Shape 16"/>
          <p:cNvSpPr/>
          <p:nvPr/>
        </p:nvSpPr>
        <p:spPr>
          <a:xfrm>
            <a:off x="6583680" y="4480560"/>
            <a:ext cx="4937760" cy="777240"/>
          </a:xfrm>
          <a:prstGeom prst="roundRect">
            <a:avLst>
              <a:gd name="adj" fmla="val 7059"/>
            </a:avLst>
          </a:prstGeom>
          <a:solidFill>
            <a:srgbClr val="FFE6E7"/>
          </a:solidFill>
          <a:ln w="19050">
            <a:solidFill>
              <a:srgbClr val="F96167"/>
            </a:solidFill>
            <a:prstDash val="solid"/>
          </a:ln>
        </p:spPr>
      </p:sp>
      <p:sp>
        <p:nvSpPr>
          <p:cNvPr id="19" name="Text 17"/>
          <p:cNvSpPr/>
          <p:nvPr/>
        </p:nvSpPr>
        <p:spPr>
          <a:xfrm>
            <a:off x="6720840" y="4526280"/>
            <a:ext cx="4754880" cy="365760"/>
          </a:xfrm>
          <a:prstGeom prst="rect">
            <a:avLst/>
          </a:prstGeom>
          <a:noFill/>
          <a:ln/>
        </p:spPr>
        <p:txBody>
          <a:bodyPr wrap="square" rtlCol="0" anchor="ctr"/>
          <a:lstStyle/>
          <a:p>
            <a:pPr indent="0" marL="0">
              <a:buNone/>
            </a:pPr>
            <a:r>
              <a:rPr lang="en-US" sz="1400" b="1" dirty="0">
                <a:solidFill>
                  <a:srgbClr val="F96167"/>
                </a:solidFill>
                <a:latin typeface="Courier New" pitchFamily="34" charset="0"/>
                <a:ea typeface="Courier New" pitchFamily="34" charset="-122"/>
                <a:cs typeface="Courier New" pitchFamily="34" charset="-120"/>
              </a:rPr>
              <a:t>id=0xBEF0  MF=1  off=0</a:t>
            </a:r>
            <a:endParaRPr lang="en-US" sz="1400" dirty="0"/>
          </a:p>
        </p:txBody>
      </p:sp>
      <p:sp>
        <p:nvSpPr>
          <p:cNvPr id="20" name="Text 18"/>
          <p:cNvSpPr/>
          <p:nvPr/>
        </p:nvSpPr>
        <p:spPr>
          <a:xfrm>
            <a:off x="6720840" y="4864608"/>
            <a:ext cx="4754880" cy="365760"/>
          </a:xfrm>
          <a:prstGeom prst="rect">
            <a:avLst/>
          </a:prstGeom>
          <a:noFill/>
          <a:ln/>
        </p:spPr>
        <p:txBody>
          <a:bodyPr wrap="square" rtlCol="0" anchor="ctr"/>
          <a:lstStyle/>
          <a:p>
            <a:pPr indent="0" marL="0">
              <a:buNone/>
            </a:pPr>
            <a:r>
              <a:rPr lang="en-US" sz="1400" dirty="0">
                <a:solidFill>
                  <a:srgbClr val="5A6378"/>
                </a:solidFill>
                <a:latin typeface="Courier New" pitchFamily="34" charset="0"/>
                <a:ea typeface="Courier New" pitchFamily="34" charset="-122"/>
                <a:cs typeface="Courier New" pitchFamily="34" charset="-120"/>
              </a:rPr>
              <a:t>overlap fragment</a:t>
            </a:r>
            <a:endParaRPr lang="en-US" sz="1400" dirty="0"/>
          </a:p>
        </p:txBody>
      </p:sp>
      <p:sp>
        <p:nvSpPr>
          <p:cNvPr id="21" name="Text 19"/>
          <p:cNvSpPr/>
          <p:nvPr/>
        </p:nvSpPr>
        <p:spPr>
          <a:xfrm>
            <a:off x="6583680" y="5394960"/>
            <a:ext cx="4937760" cy="365760"/>
          </a:xfrm>
          <a:prstGeom prst="rect">
            <a:avLst/>
          </a:prstGeom>
          <a:noFill/>
          <a:ln/>
        </p:spPr>
        <p:txBody>
          <a:bodyPr wrap="square" rtlCol="0" anchor="ctr"/>
          <a:lstStyle/>
          <a:p>
            <a:pPr indent="0" marL="0">
              <a:buNone/>
            </a:pPr>
            <a:r>
              <a:rPr lang="en-US" sz="1400" i="1" dirty="0">
                <a:solidFill>
                  <a:srgbClr val="5A6378"/>
                </a:solidFill>
                <a:latin typeface="Calibri" pitchFamily="34" charset="0"/>
                <a:ea typeface="Calibri" pitchFamily="34" charset="-122"/>
                <a:cs typeface="Calibri" pitchFamily="34" charset="-120"/>
              </a:rPr>
              <a:t>BEEF fragments reassemble to one UDP datagram; BEF0 overlap is the rewrite vector.</a:t>
            </a:r>
            <a:endParaRPr lang="en-US" sz="1400" dirty="0"/>
          </a:p>
        </p:txBody>
      </p:sp>
      <p:sp>
        <p:nvSpPr>
          <p:cNvPr id="22" name="Text 20"/>
          <p:cNvSpPr/>
          <p:nvPr/>
        </p:nvSpPr>
        <p:spPr>
          <a:xfrm>
            <a:off x="6583680" y="5715000"/>
            <a:ext cx="4937760" cy="320040"/>
          </a:xfrm>
          <a:prstGeom prst="rect">
            <a:avLst/>
          </a:prstGeom>
          <a:noFill/>
          <a:ln/>
        </p:spPr>
        <p:txBody>
          <a:bodyPr wrap="square" rtlCol="0" anchor="ctr"/>
          <a:lstStyle/>
          <a:p>
            <a:pPr indent="0" marL="0">
              <a:buNone/>
            </a:pPr>
            <a:r>
              <a:rPr lang="en-US" sz="1400" i="1" dirty="0">
                <a:solidFill>
                  <a:srgbClr val="5A6378"/>
                </a:solidFill>
                <a:latin typeface="Calibri" pitchFamily="34" charset="0"/>
                <a:ea typeface="Calibri" pitchFamily="34" charset="-122"/>
                <a:cs typeface="Calibri" pitchFamily="34" charset="-120"/>
              </a:rPr>
              <a:t>(Ptacek &amp; Newsham, Secure Networks 1998)</a:t>
            </a:r>
            <a:endParaRPr lang="en-US" sz="1400" dirty="0"/>
          </a:p>
        </p:txBody>
      </p:sp>
      <p:sp>
        <p:nvSpPr>
          <p:cNvPr id="23" name="Text 21"/>
          <p:cNvSpPr/>
          <p:nvPr/>
        </p:nvSpPr>
        <p:spPr>
          <a:xfrm>
            <a:off x="457200" y="6446520"/>
            <a:ext cx="3657600" cy="274320"/>
          </a:xfrm>
          <a:prstGeom prst="rect">
            <a:avLst/>
          </a:prstGeom>
          <a:noFill/>
          <a:ln/>
        </p:spPr>
        <p:txBody>
          <a:bodyPr wrap="square" rtlCol="0" anchor="ctr"/>
          <a:lstStyle/>
          <a:p>
            <a:pPr indent="0" marL="0">
              <a:buNone/>
            </a:pPr>
            <a:r>
              <a:rPr lang="en-US" sz="1000" i="1" dirty="0">
                <a:solidFill>
                  <a:srgbClr val="5A6378"/>
                </a:solidFill>
                <a:latin typeface="Calibri" pitchFamily="34" charset="0"/>
                <a:ea typeface="Calibri" pitchFamily="34" charset="-122"/>
                <a:cs typeface="Calibri" pitchFamily="34" charset="-120"/>
              </a:rPr>
              <a:t>shaerlock · ENPM693</a:t>
            </a:r>
            <a:endParaRPr lang="en-US" sz="1000" dirty="0"/>
          </a:p>
        </p:txBody>
      </p:sp>
      <p:sp>
        <p:nvSpPr>
          <p:cNvPr id="24" name="Text 22"/>
          <p:cNvSpPr/>
          <p:nvPr/>
        </p:nvSpPr>
        <p:spPr>
          <a:xfrm>
            <a:off x="11274552" y="6446520"/>
            <a:ext cx="731520" cy="274320"/>
          </a:xfrm>
          <a:prstGeom prst="rect">
            <a:avLst/>
          </a:prstGeom>
          <a:noFill/>
          <a:ln/>
        </p:spPr>
        <p:txBody>
          <a:bodyPr wrap="square" rtlCol="0" anchor="ctr"/>
          <a:lstStyle/>
          <a:p>
            <a:pPr algn="r" indent="0" marL="0">
              <a:buNone/>
            </a:pPr>
            <a:r>
              <a:rPr lang="en-US" sz="1000" dirty="0">
                <a:solidFill>
                  <a:srgbClr val="5A6378"/>
                </a:solidFill>
                <a:latin typeface="Calibri" pitchFamily="34" charset="0"/>
                <a:ea typeface="Calibri" pitchFamily="34" charset="-122"/>
                <a:cs typeface="Calibri" pitchFamily="34" charset="-120"/>
              </a:rPr>
              <a:t>9 / 11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457200"/>
            <a:ext cx="1097280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Conclusions</a:t>
            </a:r>
            <a:endParaRPr lang="en-US" sz="3600" dirty="0"/>
          </a:p>
        </p:txBody>
      </p:sp>
      <p:sp>
        <p:nvSpPr>
          <p:cNvPr id="3" name="Shape 1"/>
          <p:cNvSpPr/>
          <p:nvPr/>
        </p:nvSpPr>
        <p:spPr>
          <a:xfrm>
            <a:off x="457200" y="1645920"/>
            <a:ext cx="640080" cy="640080"/>
          </a:xfrm>
          <a:prstGeom prst="ellipse">
            <a:avLst/>
          </a:prstGeom>
          <a:solidFill>
            <a:srgbClr val="CADCFC"/>
          </a:solidFill>
          <a:ln w="12700">
            <a:solidFill>
              <a:srgbClr val="CADCFC"/>
            </a:solidFill>
            <a:prstDash val="solid"/>
          </a:ln>
        </p:spPr>
      </p:sp>
      <p:sp>
        <p:nvSpPr>
          <p:cNvPr id="4" name="Text 2"/>
          <p:cNvSpPr/>
          <p:nvPr/>
        </p:nvSpPr>
        <p:spPr>
          <a:xfrm>
            <a:off x="457200" y="1645920"/>
            <a:ext cx="640080" cy="640080"/>
          </a:xfrm>
          <a:prstGeom prst="rect">
            <a:avLst/>
          </a:prstGeom>
          <a:noFill/>
          <a:ln/>
        </p:spPr>
        <p:txBody>
          <a:bodyPr wrap="square" lIns="0" tIns="0" rIns="0" bIns="0" rtlCol="0" anchor="ctr"/>
          <a:lstStyle/>
          <a:p>
            <a:pPr algn="ctr" indent="0" marL="0">
              <a:buNone/>
            </a:pPr>
            <a:r>
              <a:rPr lang="en-US" sz="2600" b="1" dirty="0">
                <a:solidFill>
                  <a:srgbClr val="1E2761"/>
                </a:solidFill>
                <a:latin typeface="Georgia" pitchFamily="34" charset="0"/>
                <a:ea typeface="Georgia" pitchFamily="34" charset="-122"/>
                <a:cs typeface="Georgia" pitchFamily="34" charset="-120"/>
              </a:rPr>
              <a:t>1</a:t>
            </a:r>
            <a:endParaRPr lang="en-US" sz="2600" dirty="0"/>
          </a:p>
        </p:txBody>
      </p:sp>
      <p:sp>
        <p:nvSpPr>
          <p:cNvPr id="5" name="Text 3"/>
          <p:cNvSpPr/>
          <p:nvPr/>
        </p:nvSpPr>
        <p:spPr>
          <a:xfrm>
            <a:off x="1280160" y="1600200"/>
            <a:ext cx="10058400" cy="457200"/>
          </a:xfrm>
          <a:prstGeom prst="rect">
            <a:avLst/>
          </a:prstGeom>
          <a:noFill/>
          <a:ln/>
        </p:spPr>
        <p:txBody>
          <a:bodyPr wrap="square"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Detection and explanation are separated.</a:t>
            </a:r>
            <a:endParaRPr lang="en-US" sz="2000" dirty="0"/>
          </a:p>
        </p:txBody>
      </p:sp>
      <p:sp>
        <p:nvSpPr>
          <p:cNvPr id="6" name="Text 4"/>
          <p:cNvSpPr/>
          <p:nvPr/>
        </p:nvSpPr>
        <p:spPr>
          <a:xfrm>
            <a:off x="1280160" y="2103120"/>
            <a:ext cx="10058400" cy="640080"/>
          </a:xfrm>
          <a:prstGeom prst="rect">
            <a:avLst/>
          </a:prstGeom>
          <a:noFill/>
          <a:ln/>
        </p:spPr>
        <p:txBody>
          <a:bodyPr wrap="square" rtlCol="0" anchor="t"/>
          <a:lstStyle/>
          <a:p>
            <a:pPr indent="0" marL="0">
              <a:buNone/>
            </a:pPr>
            <a:r>
              <a:rPr lang="en-US" sz="1600" i="1" dirty="0">
                <a:solidFill>
                  <a:srgbClr val="CADCFC"/>
                </a:solidFill>
                <a:latin typeface="Calibri" pitchFamily="34" charset="0"/>
                <a:ea typeface="Calibri" pitchFamily="34" charset="-122"/>
                <a:cs typeface="Calibri" pitchFamily="34" charset="-120"/>
              </a:rPr>
              <a:t>Deterministic algorithm discovers; LLM only narrates under a JSON contract.</a:t>
            </a:r>
            <a:endParaRPr lang="en-US" sz="1600" dirty="0"/>
          </a:p>
        </p:txBody>
      </p:sp>
      <p:sp>
        <p:nvSpPr>
          <p:cNvPr id="7" name="Shape 5"/>
          <p:cNvSpPr/>
          <p:nvPr/>
        </p:nvSpPr>
        <p:spPr>
          <a:xfrm>
            <a:off x="457200" y="3108960"/>
            <a:ext cx="640080" cy="640080"/>
          </a:xfrm>
          <a:prstGeom prst="ellipse">
            <a:avLst/>
          </a:prstGeom>
          <a:solidFill>
            <a:srgbClr val="CADCFC"/>
          </a:solidFill>
          <a:ln w="12700">
            <a:solidFill>
              <a:srgbClr val="CADCFC"/>
            </a:solidFill>
            <a:prstDash val="solid"/>
          </a:ln>
        </p:spPr>
      </p:sp>
      <p:sp>
        <p:nvSpPr>
          <p:cNvPr id="8" name="Text 6"/>
          <p:cNvSpPr/>
          <p:nvPr/>
        </p:nvSpPr>
        <p:spPr>
          <a:xfrm>
            <a:off x="457200" y="3108960"/>
            <a:ext cx="640080" cy="640080"/>
          </a:xfrm>
          <a:prstGeom prst="rect">
            <a:avLst/>
          </a:prstGeom>
          <a:noFill/>
          <a:ln/>
        </p:spPr>
        <p:txBody>
          <a:bodyPr wrap="square" lIns="0" tIns="0" rIns="0" bIns="0" rtlCol="0" anchor="ctr"/>
          <a:lstStyle/>
          <a:p>
            <a:pPr algn="ctr" indent="0" marL="0">
              <a:buNone/>
            </a:pPr>
            <a:r>
              <a:rPr lang="en-US" sz="2600" b="1" dirty="0">
                <a:solidFill>
                  <a:srgbClr val="1E2761"/>
                </a:solidFill>
                <a:latin typeface="Georgia" pitchFamily="34" charset="0"/>
                <a:ea typeface="Georgia" pitchFamily="34" charset="-122"/>
                <a:cs typeface="Georgia" pitchFamily="34" charset="-120"/>
              </a:rPr>
              <a:t>2</a:t>
            </a:r>
            <a:endParaRPr lang="en-US" sz="2600" dirty="0"/>
          </a:p>
        </p:txBody>
      </p:sp>
      <p:sp>
        <p:nvSpPr>
          <p:cNvPr id="9" name="Text 7"/>
          <p:cNvSpPr/>
          <p:nvPr/>
        </p:nvSpPr>
        <p:spPr>
          <a:xfrm>
            <a:off x="1280160" y="3063240"/>
            <a:ext cx="10058400" cy="457200"/>
          </a:xfrm>
          <a:prstGeom prst="rect">
            <a:avLst/>
          </a:prstGeom>
          <a:noFill/>
          <a:ln/>
        </p:spPr>
        <p:txBody>
          <a:bodyPr wrap="square"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Hallucination is a measurable metric.</a:t>
            </a:r>
            <a:endParaRPr lang="en-US" sz="2000" dirty="0"/>
          </a:p>
        </p:txBody>
      </p:sp>
      <p:sp>
        <p:nvSpPr>
          <p:cNvPr id="10" name="Text 8"/>
          <p:cNvSpPr/>
          <p:nvPr/>
        </p:nvSpPr>
        <p:spPr>
          <a:xfrm>
            <a:off x="1280160" y="3566160"/>
            <a:ext cx="10058400" cy="640080"/>
          </a:xfrm>
          <a:prstGeom prst="rect">
            <a:avLst/>
          </a:prstGeom>
          <a:noFill/>
          <a:ln/>
        </p:spPr>
        <p:txBody>
          <a:bodyPr wrap="square" rtlCol="0" anchor="t"/>
          <a:lstStyle/>
          <a:p>
            <a:pPr indent="0" marL="0">
              <a:buNone/>
            </a:pPr>
            <a:r>
              <a:rPr lang="en-US" sz="1600" i="1" dirty="0">
                <a:solidFill>
                  <a:srgbClr val="CADCFC"/>
                </a:solidFill>
                <a:latin typeface="Calibri" pitchFamily="34" charset="0"/>
                <a:ea typeface="Calibri" pitchFamily="34" charset="-122"/>
                <a:cs typeface="Calibri" pitchFamily="34" charset="-120"/>
              </a:rPr>
              <a:t>The eval harness counts invented rule indices — 0 of 13 in our evaluation.</a:t>
            </a:r>
            <a:endParaRPr lang="en-US" sz="1600" dirty="0"/>
          </a:p>
        </p:txBody>
      </p:sp>
      <p:sp>
        <p:nvSpPr>
          <p:cNvPr id="11" name="Shape 9"/>
          <p:cNvSpPr/>
          <p:nvPr/>
        </p:nvSpPr>
        <p:spPr>
          <a:xfrm>
            <a:off x="457200" y="4572000"/>
            <a:ext cx="640080" cy="640080"/>
          </a:xfrm>
          <a:prstGeom prst="ellipse">
            <a:avLst/>
          </a:prstGeom>
          <a:solidFill>
            <a:srgbClr val="CADCFC"/>
          </a:solidFill>
          <a:ln w="12700">
            <a:solidFill>
              <a:srgbClr val="CADCFC"/>
            </a:solidFill>
            <a:prstDash val="solid"/>
          </a:ln>
        </p:spPr>
      </p:sp>
      <p:sp>
        <p:nvSpPr>
          <p:cNvPr id="12" name="Text 10"/>
          <p:cNvSpPr/>
          <p:nvPr/>
        </p:nvSpPr>
        <p:spPr>
          <a:xfrm>
            <a:off x="457200" y="4572000"/>
            <a:ext cx="640080" cy="640080"/>
          </a:xfrm>
          <a:prstGeom prst="rect">
            <a:avLst/>
          </a:prstGeom>
          <a:noFill/>
          <a:ln/>
        </p:spPr>
        <p:txBody>
          <a:bodyPr wrap="square" lIns="0" tIns="0" rIns="0" bIns="0" rtlCol="0" anchor="ctr"/>
          <a:lstStyle/>
          <a:p>
            <a:pPr algn="ctr" indent="0" marL="0">
              <a:buNone/>
            </a:pPr>
            <a:r>
              <a:rPr lang="en-US" sz="2600" b="1" dirty="0">
                <a:solidFill>
                  <a:srgbClr val="1E2761"/>
                </a:solidFill>
                <a:latin typeface="Georgia" pitchFamily="34" charset="0"/>
                <a:ea typeface="Georgia" pitchFamily="34" charset="-122"/>
                <a:cs typeface="Georgia" pitchFamily="34" charset="-120"/>
              </a:rPr>
              <a:t>3</a:t>
            </a:r>
            <a:endParaRPr lang="en-US" sz="2600" dirty="0"/>
          </a:p>
        </p:txBody>
      </p:sp>
      <p:sp>
        <p:nvSpPr>
          <p:cNvPr id="13" name="Text 11"/>
          <p:cNvSpPr/>
          <p:nvPr/>
        </p:nvSpPr>
        <p:spPr>
          <a:xfrm>
            <a:off x="1280160" y="4526280"/>
            <a:ext cx="10058400" cy="457200"/>
          </a:xfrm>
          <a:prstGeom prst="rect">
            <a:avLst/>
          </a:prstGeom>
          <a:noFill/>
          <a:ln/>
        </p:spPr>
        <p:txBody>
          <a:bodyPr wrap="square"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Evasion linkage is citation-bound.</a:t>
            </a:r>
            <a:endParaRPr lang="en-US" sz="2000" dirty="0"/>
          </a:p>
        </p:txBody>
      </p:sp>
      <p:sp>
        <p:nvSpPr>
          <p:cNvPr id="14" name="Text 12"/>
          <p:cNvSpPr/>
          <p:nvPr/>
        </p:nvSpPr>
        <p:spPr>
          <a:xfrm>
            <a:off x="1280160" y="5029200"/>
            <a:ext cx="10058400" cy="640080"/>
          </a:xfrm>
          <a:prstGeom prst="rect">
            <a:avLst/>
          </a:prstGeom>
          <a:noFill/>
          <a:ln/>
        </p:spPr>
        <p:txBody>
          <a:bodyPr wrap="square" rtlCol="0" anchor="t"/>
          <a:lstStyle/>
          <a:p>
            <a:pPr indent="0" marL="0">
              <a:buNone/>
            </a:pPr>
            <a:r>
              <a:rPr lang="en-US" sz="1600" i="1" dirty="0">
                <a:solidFill>
                  <a:srgbClr val="CADCFC"/>
                </a:solidFill>
                <a:latin typeface="Calibri" pitchFamily="34" charset="0"/>
                <a:ea typeface="Calibri" pitchFamily="34" charset="-122"/>
                <a:cs typeface="Calibri" pitchFamily="34" charset="-120"/>
              </a:rPr>
              <a:t>Hardcoded MITRE ATT&amp;CK IDs and academic papers; not LLM-fabricated.</a:t>
            </a:r>
            <a:endParaRPr lang="en-US" sz="1600" dirty="0"/>
          </a:p>
        </p:txBody>
      </p:sp>
      <p:sp>
        <p:nvSpPr>
          <p:cNvPr id="15" name="Shape 13"/>
          <p:cNvSpPr/>
          <p:nvPr/>
        </p:nvSpPr>
        <p:spPr>
          <a:xfrm>
            <a:off x="0" y="6035040"/>
            <a:ext cx="12188952" cy="822960"/>
          </a:xfrm>
          <a:prstGeom prst="rect">
            <a:avLst/>
          </a:prstGeom>
          <a:solidFill>
            <a:srgbClr val="0A0F2C"/>
          </a:solidFill>
          <a:ln w="12700">
            <a:solidFill>
              <a:srgbClr val="0A0F2C"/>
            </a:solidFill>
            <a:prstDash val="solid"/>
          </a:ln>
        </p:spPr>
      </p:sp>
      <p:sp>
        <p:nvSpPr>
          <p:cNvPr id="16" name="Text 14"/>
          <p:cNvSpPr/>
          <p:nvPr/>
        </p:nvSpPr>
        <p:spPr>
          <a:xfrm>
            <a:off x="457200" y="6172200"/>
            <a:ext cx="7315200" cy="365760"/>
          </a:xfrm>
          <a:prstGeom prst="rect">
            <a:avLst/>
          </a:prstGeom>
          <a:noFill/>
          <a:ln/>
        </p:spPr>
        <p:txBody>
          <a:bodyPr wrap="square" rtlCol="0" anchor="ctr"/>
          <a:lstStyle/>
          <a:p>
            <a:pPr indent="0" marL="0">
              <a:buNone/>
            </a:pPr>
            <a:r>
              <a:rPr lang="en-US" sz="1600" dirty="0">
                <a:solidFill>
                  <a:srgbClr val="CADCFC"/>
                </a:solidFill>
                <a:latin typeface="Courier New" pitchFamily="34" charset="0"/>
                <a:ea typeface="Courier New" pitchFamily="34" charset="-122"/>
                <a:cs typeface="Courier New" pitchFamily="34" charset="-120"/>
              </a:rPr>
              <a:t>github.com/joshuaalwin/shaerlock</a:t>
            </a:r>
            <a:endParaRPr lang="en-US" sz="1600" dirty="0"/>
          </a:p>
        </p:txBody>
      </p:sp>
      <p:sp>
        <p:nvSpPr>
          <p:cNvPr id="17" name="Text 15"/>
          <p:cNvSpPr/>
          <p:nvPr/>
        </p:nvSpPr>
        <p:spPr>
          <a:xfrm>
            <a:off x="6702552" y="6172200"/>
            <a:ext cx="5029200" cy="365760"/>
          </a:xfrm>
          <a:prstGeom prst="rect">
            <a:avLst/>
          </a:prstGeom>
          <a:noFill/>
          <a:ln/>
        </p:spPr>
        <p:txBody>
          <a:bodyPr wrap="square" rtlCol="0" anchor="ctr"/>
          <a:lstStyle/>
          <a:p>
            <a:pPr algn="r" indent="0" marL="0">
              <a:buNone/>
            </a:pPr>
            <a:r>
              <a:rPr lang="en-US" sz="1600" dirty="0">
                <a:solidFill>
                  <a:srgbClr val="CADCFC"/>
                </a:solidFill>
                <a:latin typeface="Calibri" pitchFamily="34" charset="0"/>
                <a:ea typeface="Calibri" pitchFamily="34" charset="-122"/>
                <a:cs typeface="Calibri" pitchFamily="34" charset="-120"/>
              </a:rPr>
              <a:t>Joshua Alwin · jalwin327@gmail.com</a:t>
            </a:r>
            <a:endParaRPr lang="en-US" sz="1600" dirty="0"/>
          </a:p>
        </p:txBody>
      </p:sp>
      <p:sp>
        <p:nvSpPr>
          <p:cNvPr id="18" name="Text 16"/>
          <p:cNvSpPr/>
          <p:nvPr/>
        </p:nvSpPr>
        <p:spPr>
          <a:xfrm>
            <a:off x="11274552" y="6446520"/>
            <a:ext cx="731520" cy="274320"/>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10 / 11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457200"/>
            <a:ext cx="1097280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References</a:t>
            </a:r>
            <a:endParaRPr lang="en-US" sz="3600" dirty="0"/>
          </a:p>
        </p:txBody>
      </p:sp>
      <p:sp>
        <p:nvSpPr>
          <p:cNvPr id="3" name="Text 1"/>
          <p:cNvSpPr/>
          <p:nvPr/>
        </p:nvSpPr>
        <p:spPr>
          <a:xfrm>
            <a:off x="457200" y="1463040"/>
            <a:ext cx="11247120" cy="4572000"/>
          </a:xfrm>
          <a:prstGeom prst="rect">
            <a:avLst/>
          </a:prstGeom>
          <a:noFill/>
          <a:ln/>
        </p:spPr>
        <p:txBody>
          <a:bodyPr wrap="square" rtlCol="0" anchor="t"/>
          <a:lstStyle/>
          <a:p>
            <a:pPr indent="0" marL="0">
              <a:spcAft>
                <a:spcPts val="1400"/>
              </a:spcAft>
              <a:buNone/>
            </a:pPr>
            <a:r>
              <a:rPr lang="en-US" sz="1600" dirty="0">
                <a:solidFill>
                  <a:srgbClr val="CADCFC"/>
                </a:solidFill>
                <a:latin typeface="Calibri" pitchFamily="34" charset="0"/>
                <a:ea typeface="Calibri" pitchFamily="34" charset="-122"/>
                <a:cs typeface="Calibri" pitchFamily="34" charset="-120"/>
              </a:rPr>
              <a:t>[1] T. Ptacek, T. Newsham. Insertion, Evasion, and Denial of Service: Eluding Network Intrusion Detection. Secure Networks Inc., 1998.</a:t>
            </a:r>
            <a:endParaRPr lang="en-US" sz="1600" dirty="0"/>
          </a:p>
          <a:p>
            <a:pPr indent="0" marL="0">
              <a:spcAft>
                <a:spcPts val="1400"/>
              </a:spcAft>
              <a:buNone/>
            </a:pPr>
            <a:r>
              <a:rPr lang="en-US" sz="1600" dirty="0">
                <a:solidFill>
                  <a:srgbClr val="CADCFC"/>
                </a:solidFill>
                <a:latin typeface="Calibri" pitchFamily="34" charset="0"/>
                <a:ea typeface="Calibri" pitchFamily="34" charset="-122"/>
                <a:cs typeface="Calibri" pitchFamily="34" charset="-120"/>
              </a:rPr>
              <a:t>[2] E. Al-Shaer, H. Hamed. Discovery of Policy Anomalies in Distributed Firewalls. IEEE INFOCOM 2004.</a:t>
            </a:r>
            <a:endParaRPr lang="en-US" sz="1600" dirty="0"/>
          </a:p>
          <a:p>
            <a:pPr indent="0" marL="0">
              <a:spcAft>
                <a:spcPts val="1400"/>
              </a:spcAft>
              <a:buNone/>
            </a:pPr>
            <a:r>
              <a:rPr lang="en-US" sz="1600" dirty="0">
                <a:solidFill>
                  <a:srgbClr val="CADCFC"/>
                </a:solidFill>
                <a:latin typeface="Calibri" pitchFamily="34" charset="0"/>
                <a:ea typeface="Calibri" pitchFamily="34" charset="-122"/>
                <a:cs typeface="Calibri" pitchFamily="34" charset="-120"/>
              </a:rPr>
              <a:t>[3] A. Wool. A Quantitative Study of Firewall Configuration Errors. IEEE Computer 37(6), 2004.</a:t>
            </a:r>
            <a:endParaRPr lang="en-US" sz="1600" dirty="0"/>
          </a:p>
          <a:p>
            <a:pPr indent="0" marL="0">
              <a:spcAft>
                <a:spcPts val="1400"/>
              </a:spcAft>
              <a:buNone/>
            </a:pPr>
            <a:r>
              <a:rPr lang="en-US" sz="1600" dirty="0">
                <a:solidFill>
                  <a:srgbClr val="CADCFC"/>
                </a:solidFill>
                <a:latin typeface="Calibri" pitchFamily="34" charset="0"/>
                <a:ea typeface="Calibri" pitchFamily="34" charset="-122"/>
                <a:cs typeface="Calibri" pitchFamily="34" charset="-120"/>
              </a:rPr>
              <a:t>[4] L. Yuan et al. FIREMAN: A Toolkit for Firewall Modeling and Analysis. IEEE S&amp;P 2006.</a:t>
            </a:r>
            <a:endParaRPr lang="en-US" sz="1600" dirty="0"/>
          </a:p>
          <a:p>
            <a:pPr indent="0" marL="0">
              <a:spcAft>
                <a:spcPts val="1400"/>
              </a:spcAft>
              <a:buNone/>
            </a:pPr>
            <a:r>
              <a:rPr lang="en-US" sz="1600" dirty="0">
                <a:solidFill>
                  <a:srgbClr val="CADCFC"/>
                </a:solidFill>
                <a:latin typeface="Calibri" pitchFamily="34" charset="0"/>
                <a:ea typeface="Calibri" pitchFamily="34" charset="-122"/>
                <a:cs typeface="Calibri" pitchFamily="34" charset="-120"/>
              </a:rPr>
              <a:t>[5] C. Diekmann et al. Verified iptables Firewall Analysis and Verification. J. Automated Reasoning, 2018.</a:t>
            </a:r>
            <a:endParaRPr lang="en-US" sz="1600" dirty="0"/>
          </a:p>
          <a:p>
            <a:pPr indent="0" marL="0">
              <a:spcAft>
                <a:spcPts val="1400"/>
              </a:spcAft>
              <a:buNone/>
            </a:pPr>
            <a:r>
              <a:rPr lang="en-US" sz="1600" dirty="0">
                <a:solidFill>
                  <a:srgbClr val="CADCFC"/>
                </a:solidFill>
                <a:latin typeface="Calibri" pitchFamily="34" charset="0"/>
                <a:ea typeface="Calibri" pitchFamily="34" charset="-122"/>
                <a:cs typeface="Calibri" pitchFamily="34" charset="-120"/>
              </a:rPr>
              <a:t>[6] Y. Lin et al. LLM-Assisted Network Security Policy Audit. arXiv:2407.07930, 2024.</a:t>
            </a:r>
            <a:endParaRPr lang="en-US" sz="1600" dirty="0"/>
          </a:p>
        </p:txBody>
      </p:sp>
      <p:sp>
        <p:nvSpPr>
          <p:cNvPr id="4" name="Text 2"/>
          <p:cNvSpPr/>
          <p:nvPr/>
        </p:nvSpPr>
        <p:spPr>
          <a:xfrm>
            <a:off x="11274552" y="6446520"/>
            <a:ext cx="731520" cy="274320"/>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11 / 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University of Maryland — ENPM693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shaerlock — ENPM693 Final</dc:title>
  <dc:subject>PptxGenJS Presentation</dc:subject>
  <dc:creator>Joshua Alwin</dc:creator>
  <cp:lastModifiedBy>Joshua Alwin</cp:lastModifiedBy>
  <cp:revision>1</cp:revision>
  <dcterms:created xsi:type="dcterms:W3CDTF">2026-05-13T22:53:26Z</dcterms:created>
  <dcterms:modified xsi:type="dcterms:W3CDTF">2026-05-13T22:53:26Z</dcterms:modified>
</cp:coreProperties>
</file>